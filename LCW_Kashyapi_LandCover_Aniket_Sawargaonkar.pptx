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75"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615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land-cover exercise on a 3 square kilometre box at the edge of the Kashyapi Dam reservoir near Nashik. I built my own random-forest classification for 12 grid cells, then compared it with two published products, Dynamic World and the Copernicus 2019 land-cover map. The point is not just the map but being able to trace every number back to an image and a line of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had five parts and I kept an output for each. The grid was fixed first. Six cells were drawn with a seed and labelled by eye before I saw any model output. A random forest classified all 12 cells. I then compared it with Dynamic World and the Copernicus map, diagnosed two cells where they disagree, and reran the analysis with one choice changed.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is 2 by 1.5 kilometres, under the 4 square kilometre limit, and split into twelve 500 metre cells. I chose the reservoir edge on purpose: within one box there is open water, a margin that floods and dries with the seasons, a village, farmland and hill scrub. The corner is snapped to the Sentinel-2 10 metre grid, so every cell holds exactly 2,500 pixels.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window is October to December 2019, just after the monsoon. I added February to March 2019 as a second input because right after the monsoon fields, scrub and grass are all green. In the dry season the slope dries out and looks pale, while fields are either bare or carry a green rabi crop. Every cell had valid data in all 2,500 pixels in both windows, so coverage is not a source of disagreement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the Copernicus class names and codes so the crosswalk to the comparators is direct. Forest and herbaceous wetland appear only in the comparator maps, because there were no reliable training patches for them near the site, so my model cannot predict them. The same 50 percent rule turns pixel shares into a cell label for every source, which keeps the comparison fair.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cells came from a stratified random draw, two per grid row, with seed 2019 fixed in the code before I looked at any image. I labelled them from the October to December chips only, without AI and before any model or comparator output. I kept mixed labels where the cell genuinely is mixed. These are an imperfect, very small check, not ground truth.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a conventional classifier over a vision-language model because it is fully reproducible and every pixel decision can be traced. Each pixel gets 19 features: the six bands and three indices for each season, plus the change in NDVI between them. The forest gives class probabilities; each pixel takes the most likely class, and the cell label comes from pixel shares with the 50 percent rule. I also keep the share of low-confidence pixels, those whose top probability is under 0.5, as an uncertainty column.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and evaluation locations are kept separate: every polygon sits at least 100 metres outside the grid, and the code drops any pixel that falls inside a study cell. I want to be clear that the polygons were made semi-automatically by a script written with AI help, inside zones I marked by eye, and then checked square by square in both seasons. Dynamic World and the Copernicus map were never used to train or tune the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Held-out whole polygons give 1,610 correct out of 1,750 pixels, 92 percent. I do not call this accuracy: the squares are uniform patches made by the same rules in the same zones, so held-out ones resemble the training ones. The out-of-bag score, 98 percent, is even more optimistic because it holds out pixels. Cropland is the weakest class, confused with shrubs and grass, which is exactly where the comparators disagree later. NDVI change between the seasons is the third most important feature, which supports using two seasons.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World was matched scene by scene to the 48 Sentinel-2 images in my composites, so it describes the same time window. I averaged its class probabilities over all 48 images and took the highest mean per pixel, rather than a modal label. CGLS is one 100 metre map for the whole of 2019, so each cell holds only 25 to 36 of its pixels, and it can legitimately differ where cover changes within the year. I resampled it by nearest neighbour and did not area-weight.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headline before the evidence. My model and Dynamic World match exactly in 7 of 12 cells, and in 11 of 12 if a mixed label can match either of its classes. All three sources agree on the clear cases. The disagreements are concentrated in the places where land cover itself is ambiguous or changes through the year. None of this is accuracy: there is no independent reference here except my six visual labels.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each source's cell label on the same grid. Five cells, the farmland on the right and C09 water, get the same label from all three sources. Part of the Copernicus mismatch is a definition effect: it labels the open-water cells C01 and C05 as herbaceous wetland because its pixels are 100 metres and it summarises the whole year, including low-water months. The real disagreements are at the reservoir margin, C06 and C10, and on the C02 slope.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has its denominator: 12 cells between products and 6 for my visual labels, 3 of them high confidence. The Wilson intervals show how little 12 or 6 cells can tell us. 7 of 12 is consistent with a true match rate anywhere from about a third to four fifths. I keep product-versus-product agreement separate from any claim about accuracy. Against my own labels the random forest matched 4, Dynamic World 3 and Copernicus 1, but with 6 cells that ranking is fragile.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labelled C02 as shrubs with high confidence. My model splits it between shrubs and grass, while both products call it cropland. What I can observe: in February to March the slope is pale and dry, and Dynamic World's cropland probability on individual dates is only around 0.3 to 0.45, never a confident call. My hypothesis, not yet tested, is that parts of the slope are rain-fed kharif fields that lie fallow outside the monsoon. Monsoon-season imagery would test it, since active fields should look green and regular in shape.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C10 sits where the reservoir meets the land. Every source gives a different answer. What I can observe is the water's edge, a stream channel the model picks out as bare ground, and one small compound. Built-up is at most 5 percent on every map, so my own label gave the compound too much weight. That is a correction to my label. The hypothesis is that this is a drawdown zone, exposed as the water falls and then grazed or farmed, which each product handles differently. A monthly series of water extent and a field visit would test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changed one choice, the date window, from two seasons to October to December only. The random forest was retrained on the nine October to December features with the same polygons, pixels and seed; Dynamic World was averaged over the 25 October to December images; Copernicus, an annual map, stayed the same. The original outputs are kept. The direction of my prediction was right: cropland share fell in every farm cell. But the effect was small and no random-forest label changed. What would have changed my conclusion is labels flipping between runs, especially in farmland cells, and that did not happen.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cell classified as shrubs or grass says nothing about tenure or use. To establish commons use I would combine the map with land records of village grazing land, gram panchayat decisions, interviews and dated field visits. For a second period, I would rerun the identical method for the same months in later years. Several years first give the normal year-to-year variation, so only changes larger than that and lasting across years count as real. If a project's start date is unclear, I would compare periods well before and well after it rather than the years right around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00761"/>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F2A30"/>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43711"/>
            <a:ext cx="10566400" cy="4301489"/>
          </a:xfrm>
          <a:prstGeom prst="rect">
            <a:avLst/>
          </a:prstGeom>
          <a:noFill/>
          <a:ln/>
        </p:spPr>
        <p:txBody>
          <a:bodyPr wrap="square" lIns="0" tIns="0" rIns="0" bIns="0" rtlCol="0" anchor="t"/>
          <a:lstStyle>
            <a:lvl1pPr marL="0" indent="0" algn="l">
              <a:lnSpc>
                <a:spcPct val="140000"/>
              </a:lnSpc>
              <a:buNone/>
              <a:defRPr lang="en-US" sz="1600" dirty="0">
                <a:solidFill>
                  <a:srgbClr val="1F2A3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00761"/>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F2A30"/>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43711"/>
            <a:ext cx="10566400" cy="4301489"/>
          </a:xfrm>
          <a:prstGeom prst="rect">
            <a:avLst/>
          </a:prstGeom>
          <a:noFill/>
          <a:ln/>
        </p:spPr>
        <p:txBody>
          <a:bodyPr wrap="square" lIns="0" tIns="0" rIns="0" bIns="0" rtlCol="0" anchor="t"/>
          <a:lstStyle>
            <a:lvl1pPr marL="0" indent="0" algn="l">
              <a:lnSpc>
                <a:spcPct val="140000"/>
              </a:lnSpc>
              <a:buNone/>
              <a:defRPr lang="en-US" sz="1600" dirty="0">
                <a:solidFill>
                  <a:srgbClr val="1F2A3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0"/>
        </a:solidFill>
        <a:effectLst/>
      </p:bgPr>
    </p:bg>
    <p:spTree>
      <p:nvGrpSpPr>
        <p:cNvPr id="1" name=""/>
        <p:cNvGrpSpPr/>
        <p:nvPr/>
      </p:nvGrpSpPr>
      <p:grpSpPr>
        <a:xfrm>
          <a:off x="0" y="0"/>
          <a:ext cx="0" cy="0"/>
          <a:chOff x="0" y="0"/>
          <a:chExt cx="0" cy="0"/>
        </a:xfrm>
      </p:grpSpPr>
      <p:sp>
        <p:nvSpPr>
          <p:cNvPr id="2" name="Text 0"/>
          <p:cNvSpPr/>
          <p:nvPr/>
        </p:nvSpPr>
        <p:spPr>
          <a:xfrm>
            <a:off x="812800" y="1602264"/>
            <a:ext cx="562483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EC3E6"/>
                </a:solidFill>
                <a:latin typeface="IBM Plex Sans" pitchFamily="34" charset="0"/>
                <a:ea typeface="IBM Plex Sans" pitchFamily="34" charset="-122"/>
                <a:cs typeface="IBM Plex Sans" pitchFamily="34" charset="-120"/>
              </a:rPr>
              <a:t>Q1 · LAND-COVER CLASSIFICATION</a:t>
            </a:r>
            <a:endParaRPr lang="en-US" sz="1200" dirty="0"/>
          </a:p>
        </p:txBody>
      </p:sp>
      <p:sp>
        <p:nvSpPr>
          <p:cNvPr id="3" name="Text 1"/>
          <p:cNvSpPr>
            <a:spLocks noGrp="1"/>
          </p:cNvSpPr>
          <p:nvPr>
            <p:ph type="title"/>
          </p:nvPr>
        </p:nvSpPr>
        <p:spPr>
          <a:xfrm>
            <a:off x="812800" y="2018824"/>
            <a:ext cx="5624830" cy="1753473"/>
          </a:xfrm>
          <a:prstGeom prst="rect">
            <a:avLst/>
          </a:prstGeom>
          <a:noFill/>
          <a:ln/>
        </p:spPr>
        <p:txBody>
          <a:bodyPr wrap="square" lIns="0" tIns="0" rIns="0" bIns="0" rtlCol="0" anchor="t">
            <a:normAutofit/>
          </a:bodyPr>
          <a:lstStyle/>
          <a:p>
            <a:pPr marL="0" indent="0" algn="l">
              <a:lnSpc>
                <a:spcPts val="4536"/>
              </a:lnSpc>
              <a:buNone/>
            </a:pPr>
            <a:r>
              <a:rPr lang="en-US" sz="4200" b="1" i="0" dirty="0">
                <a:solidFill>
                  <a:srgbClr val="F3F1EA"/>
                </a:solidFill>
                <a:latin typeface="Source Serif 4" pitchFamily="18" charset="0"/>
                <a:ea typeface="Source Serif 4" pitchFamily="18" charset="-122"/>
                <a:cs typeface="Source Serif 4" pitchFamily="18" charset="-120"/>
              </a:rPr>
              <a:t>Land cover at the Kashyapi Dam reservoir edge</a:t>
            </a:r>
            <a:endParaRPr lang="en-US" sz="4200" dirty="0"/>
          </a:p>
        </p:txBody>
      </p:sp>
      <p:sp>
        <p:nvSpPr>
          <p:cNvPr id="4" name="Text 2"/>
          <p:cNvSpPr/>
          <p:nvPr/>
        </p:nvSpPr>
        <p:spPr>
          <a:xfrm>
            <a:off x="812800" y="3950097"/>
            <a:ext cx="5624830"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D6"/>
                </a:solidFill>
                <a:latin typeface="IBM Plex Sans" pitchFamily="34" charset="0"/>
                <a:ea typeface="IBM Plex Sans" pitchFamily="34" charset="-122"/>
                <a:cs typeface="IBM Plex Sans" pitchFamily="34" charset="-120"/>
              </a:rPr>
              <a:t>Nashik, Maharashtra · Sentinel-2, 2019. A reproducible 12-cell classification compared with Dynamic World and CGLS-LC100.</a:t>
            </a:r>
            <a:endParaRPr lang="en-US" sz="1600" dirty="0"/>
          </a:p>
        </p:txBody>
      </p:sp>
      <p:sp>
        <p:nvSpPr>
          <p:cNvPr id="5" name="Text 3"/>
          <p:cNvSpPr/>
          <p:nvPr/>
        </p:nvSpPr>
        <p:spPr>
          <a:xfrm>
            <a:off x="812800" y="5006737"/>
            <a:ext cx="56248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Aniket Sawargaonkar · October 2026</a:t>
            </a:r>
            <a:endParaRPr lang="en-US" sz="1400" dirty="0"/>
          </a:p>
        </p:txBody>
      </p:sp>
      <p:pic>
        <p:nvPicPr>
          <p:cNvPr id="6" name="Image 0" descr="Sentinel-2 Oct–Dec 2019 true-colour composite of the study area with the 3 × 4 grid and cell IDs C01 to C12"/>
          <p:cNvPicPr>
            <a:picLocks noChangeAspect="1"/>
          </p:cNvPicPr>
          <p:nvPr/>
        </p:nvPicPr>
        <p:blipFill>
          <a:blip r:embed="rId3"/>
          <a:srcRect/>
          <a:stretch/>
        </p:blipFill>
        <p:spPr>
          <a:xfrm>
            <a:off x="6553200" y="1619250"/>
            <a:ext cx="4826000" cy="3619500"/>
          </a:xfrm>
          <a:prstGeom prst="roundRect">
            <a:avLst>
              <a:gd name="adj" fmla="val 1404"/>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THE EXERCISE</a:t>
            </a:r>
            <a:endParaRPr lang="en-US" sz="1200" dirty="0"/>
          </a:p>
        </p:txBody>
      </p:sp>
      <p:sp>
        <p:nvSpPr>
          <p:cNvPr id="3" name="Text 1"/>
          <p:cNvSpPr>
            <a:spLocks noGrp="1"/>
          </p:cNvSpPr>
          <p:nvPr>
            <p:ph type="title"/>
          </p:nvPr>
        </p:nvSpPr>
        <p:spPr>
          <a:xfrm>
            <a:off x="812800" y="100076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Five steps, each with a saved output</a:t>
            </a:r>
            <a:endParaRPr lang="en-US" sz="3000" dirty="0"/>
          </a:p>
        </p:txBody>
      </p:sp>
      <p:sp>
        <p:nvSpPr>
          <p:cNvPr id="4" name="Shape 2"/>
          <p:cNvSpPr/>
          <p:nvPr/>
        </p:nvSpPr>
        <p:spPr>
          <a:xfrm>
            <a:off x="815975" y="1746885"/>
            <a:ext cx="2005330" cy="1974850"/>
          </a:xfrm>
          <a:prstGeom prst="roundRect">
            <a:avLst>
              <a:gd name="adj" fmla="val 3698"/>
            </a:avLst>
          </a:prstGeom>
          <a:solidFill>
            <a:srgbClr val="FDFCF9"/>
          </a:solidFill>
          <a:ln w="6350">
            <a:solidFill>
              <a:srgbClr val="DEDBD2"/>
            </a:solidFill>
            <a:prstDash val="solid"/>
          </a:ln>
        </p:spPr>
      </p:sp>
      <p:sp>
        <p:nvSpPr>
          <p:cNvPr id="5" name="Text 3"/>
          <p:cNvSpPr/>
          <p:nvPr/>
        </p:nvSpPr>
        <p:spPr>
          <a:xfrm>
            <a:off x="995680" y="1926590"/>
            <a:ext cx="169672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0B5A8C"/>
                </a:solidFill>
                <a:latin typeface="Source Serif 4" pitchFamily="18" charset="0"/>
                <a:ea typeface="Source Serif 4" pitchFamily="18" charset="-122"/>
                <a:cs typeface="Source Serif 4" pitchFamily="18" charset="-120"/>
              </a:rPr>
              <a:t>1</a:t>
            </a:r>
            <a:endParaRPr lang="en-US" sz="2800" dirty="0"/>
          </a:p>
        </p:txBody>
      </p:sp>
      <p:sp>
        <p:nvSpPr>
          <p:cNvPr id="6" name="Text 4"/>
          <p:cNvSpPr/>
          <p:nvPr/>
        </p:nvSpPr>
        <p:spPr>
          <a:xfrm>
            <a:off x="995680" y="2371090"/>
            <a:ext cx="16967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2A30"/>
                </a:solidFill>
                <a:latin typeface="IBM Plex Sans" pitchFamily="34" charset="0"/>
                <a:ea typeface="IBM Plex Sans" pitchFamily="34" charset="-122"/>
                <a:cs typeface="IBM Plex Sans" pitchFamily="34" charset="-120"/>
              </a:rPr>
              <a:t>Fix the grid</a:t>
            </a:r>
            <a:endParaRPr lang="en-US" sz="1500" dirty="0"/>
          </a:p>
        </p:txBody>
      </p:sp>
      <p:sp>
        <p:nvSpPr>
          <p:cNvPr id="7" name="Text 5"/>
          <p:cNvSpPr/>
          <p:nvPr/>
        </p:nvSpPr>
        <p:spPr>
          <a:xfrm>
            <a:off x="995680" y="2688590"/>
            <a:ext cx="169672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3 × 4 cells of 500 m, 3.0 km², saved as GeoJSON with cell IDs</a:t>
            </a:r>
            <a:endParaRPr lang="en-US" sz="1200" dirty="0"/>
          </a:p>
        </p:txBody>
      </p:sp>
      <p:sp>
        <p:nvSpPr>
          <p:cNvPr id="8" name="Shape 6"/>
          <p:cNvSpPr/>
          <p:nvPr/>
        </p:nvSpPr>
        <p:spPr>
          <a:xfrm>
            <a:off x="2954655" y="1746885"/>
            <a:ext cx="2005330" cy="1974850"/>
          </a:xfrm>
          <a:prstGeom prst="roundRect">
            <a:avLst>
              <a:gd name="adj" fmla="val 3698"/>
            </a:avLst>
          </a:prstGeom>
          <a:solidFill>
            <a:srgbClr val="FDFCF9"/>
          </a:solidFill>
          <a:ln w="6350">
            <a:solidFill>
              <a:srgbClr val="DEDBD2"/>
            </a:solidFill>
            <a:prstDash val="solid"/>
          </a:ln>
        </p:spPr>
      </p:sp>
      <p:sp>
        <p:nvSpPr>
          <p:cNvPr id="9" name="Text 7"/>
          <p:cNvSpPr/>
          <p:nvPr/>
        </p:nvSpPr>
        <p:spPr>
          <a:xfrm>
            <a:off x="3134360" y="1926590"/>
            <a:ext cx="169672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0B5A8C"/>
                </a:solidFill>
                <a:latin typeface="Source Serif 4" pitchFamily="18" charset="0"/>
                <a:ea typeface="Source Serif 4" pitchFamily="18" charset="-122"/>
                <a:cs typeface="Source Serif 4" pitchFamily="18" charset="-120"/>
              </a:rPr>
              <a:t>2</a:t>
            </a:r>
            <a:endParaRPr lang="en-US" sz="2800" dirty="0"/>
          </a:p>
        </p:txBody>
      </p:sp>
      <p:sp>
        <p:nvSpPr>
          <p:cNvPr id="10" name="Text 8"/>
          <p:cNvSpPr/>
          <p:nvPr/>
        </p:nvSpPr>
        <p:spPr>
          <a:xfrm>
            <a:off x="3134360" y="2371090"/>
            <a:ext cx="16967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2A30"/>
                </a:solidFill>
                <a:latin typeface="IBM Plex Sans" pitchFamily="34" charset="0"/>
                <a:ea typeface="IBM Plex Sans" pitchFamily="34" charset="-122"/>
                <a:cs typeface="IBM Plex Sans" pitchFamily="34" charset="-120"/>
              </a:rPr>
              <a:t>Label six by eye</a:t>
            </a:r>
            <a:endParaRPr lang="en-US" sz="1500" dirty="0"/>
          </a:p>
        </p:txBody>
      </p:sp>
      <p:sp>
        <p:nvSpPr>
          <p:cNvPr id="11" name="Text 9"/>
          <p:cNvSpPr/>
          <p:nvPr/>
        </p:nvSpPr>
        <p:spPr>
          <a:xfrm>
            <a:off x="3134360" y="2688590"/>
            <a:ext cx="1696720"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Seeded random draw; labelled from RGB chips before any model output</a:t>
            </a:r>
            <a:endParaRPr lang="en-US" sz="1200" dirty="0"/>
          </a:p>
        </p:txBody>
      </p:sp>
      <p:sp>
        <p:nvSpPr>
          <p:cNvPr id="12" name="Shape 10"/>
          <p:cNvSpPr/>
          <p:nvPr/>
        </p:nvSpPr>
        <p:spPr>
          <a:xfrm>
            <a:off x="5093335" y="1746885"/>
            <a:ext cx="2005330" cy="1974850"/>
          </a:xfrm>
          <a:prstGeom prst="roundRect">
            <a:avLst>
              <a:gd name="adj" fmla="val 3698"/>
            </a:avLst>
          </a:prstGeom>
          <a:solidFill>
            <a:srgbClr val="FDFCF9"/>
          </a:solidFill>
          <a:ln w="6350">
            <a:solidFill>
              <a:srgbClr val="DEDBD2"/>
            </a:solidFill>
            <a:prstDash val="solid"/>
          </a:ln>
        </p:spPr>
      </p:sp>
      <p:sp>
        <p:nvSpPr>
          <p:cNvPr id="13" name="Text 11"/>
          <p:cNvSpPr/>
          <p:nvPr/>
        </p:nvSpPr>
        <p:spPr>
          <a:xfrm>
            <a:off x="5273040" y="1926590"/>
            <a:ext cx="169672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0B5A8C"/>
                </a:solidFill>
                <a:latin typeface="Source Serif 4" pitchFamily="18" charset="0"/>
                <a:ea typeface="Source Serif 4" pitchFamily="18" charset="-122"/>
                <a:cs typeface="Source Serif 4" pitchFamily="18" charset="-120"/>
              </a:rPr>
              <a:t>3</a:t>
            </a:r>
            <a:endParaRPr lang="en-US" sz="2800" dirty="0"/>
          </a:p>
        </p:txBody>
      </p:sp>
      <p:sp>
        <p:nvSpPr>
          <p:cNvPr id="14" name="Text 12"/>
          <p:cNvSpPr/>
          <p:nvPr/>
        </p:nvSpPr>
        <p:spPr>
          <a:xfrm>
            <a:off x="5273040" y="2371090"/>
            <a:ext cx="16967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2A30"/>
                </a:solidFill>
                <a:latin typeface="IBM Plex Sans" pitchFamily="34" charset="0"/>
                <a:ea typeface="IBM Plex Sans" pitchFamily="34" charset="-122"/>
                <a:cs typeface="IBM Plex Sans" pitchFamily="34" charset="-120"/>
              </a:rPr>
              <a:t>Classify all 12</a:t>
            </a:r>
            <a:endParaRPr lang="en-US" sz="1500" dirty="0"/>
          </a:p>
        </p:txBody>
      </p:sp>
      <p:sp>
        <p:nvSpPr>
          <p:cNvPr id="15" name="Text 13"/>
          <p:cNvSpPr/>
          <p:nvPr/>
        </p:nvSpPr>
        <p:spPr>
          <a:xfrm>
            <a:off x="5273040" y="2688590"/>
            <a:ext cx="169672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Random forest on two Sentinel-2 seasons, trained outside the grid</a:t>
            </a:r>
            <a:endParaRPr lang="en-US" sz="1200" dirty="0"/>
          </a:p>
        </p:txBody>
      </p:sp>
      <p:sp>
        <p:nvSpPr>
          <p:cNvPr id="16" name="Shape 14"/>
          <p:cNvSpPr/>
          <p:nvPr/>
        </p:nvSpPr>
        <p:spPr>
          <a:xfrm>
            <a:off x="7232015" y="1746885"/>
            <a:ext cx="2005330" cy="1974850"/>
          </a:xfrm>
          <a:prstGeom prst="roundRect">
            <a:avLst>
              <a:gd name="adj" fmla="val 3698"/>
            </a:avLst>
          </a:prstGeom>
          <a:solidFill>
            <a:srgbClr val="FDFCF9"/>
          </a:solidFill>
          <a:ln w="6350">
            <a:solidFill>
              <a:srgbClr val="DEDBD2"/>
            </a:solidFill>
            <a:prstDash val="solid"/>
          </a:ln>
        </p:spPr>
      </p:sp>
      <p:sp>
        <p:nvSpPr>
          <p:cNvPr id="17" name="Text 15"/>
          <p:cNvSpPr/>
          <p:nvPr/>
        </p:nvSpPr>
        <p:spPr>
          <a:xfrm>
            <a:off x="7411720" y="1926590"/>
            <a:ext cx="169672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0B5A8C"/>
                </a:solidFill>
                <a:latin typeface="Source Serif 4" pitchFamily="18" charset="0"/>
                <a:ea typeface="Source Serif 4" pitchFamily="18" charset="-122"/>
                <a:cs typeface="Source Serif 4" pitchFamily="18" charset="-120"/>
              </a:rPr>
              <a:t>4</a:t>
            </a:r>
            <a:endParaRPr lang="en-US" sz="2800" dirty="0"/>
          </a:p>
        </p:txBody>
      </p:sp>
      <p:sp>
        <p:nvSpPr>
          <p:cNvPr id="18" name="Text 16"/>
          <p:cNvSpPr/>
          <p:nvPr/>
        </p:nvSpPr>
        <p:spPr>
          <a:xfrm>
            <a:off x="7411720" y="2371090"/>
            <a:ext cx="16967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2A30"/>
                </a:solidFill>
                <a:latin typeface="IBM Plex Sans" pitchFamily="34" charset="0"/>
                <a:ea typeface="IBM Plex Sans" pitchFamily="34" charset="-122"/>
                <a:cs typeface="IBM Plex Sans" pitchFamily="34" charset="-120"/>
              </a:rPr>
              <a:t>Compare</a:t>
            </a:r>
            <a:endParaRPr lang="en-US" sz="1500" dirty="0"/>
          </a:p>
        </p:txBody>
      </p:sp>
      <p:sp>
        <p:nvSpPr>
          <p:cNvPr id="19" name="Text 17"/>
          <p:cNvSpPr/>
          <p:nvPr/>
        </p:nvSpPr>
        <p:spPr>
          <a:xfrm>
            <a:off x="7411720" y="2688590"/>
            <a:ext cx="169672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Dynamic World and CGLS-LC100 2019 on the same footprints</a:t>
            </a:r>
            <a:endParaRPr lang="en-US" sz="1200" dirty="0"/>
          </a:p>
        </p:txBody>
      </p:sp>
      <p:sp>
        <p:nvSpPr>
          <p:cNvPr id="20" name="Shape 18"/>
          <p:cNvSpPr/>
          <p:nvPr/>
        </p:nvSpPr>
        <p:spPr>
          <a:xfrm>
            <a:off x="9370695" y="1746885"/>
            <a:ext cx="2005330" cy="1974850"/>
          </a:xfrm>
          <a:prstGeom prst="roundRect">
            <a:avLst>
              <a:gd name="adj" fmla="val 3698"/>
            </a:avLst>
          </a:prstGeom>
          <a:solidFill>
            <a:srgbClr val="FDFCF9"/>
          </a:solidFill>
          <a:ln w="6350">
            <a:solidFill>
              <a:srgbClr val="DEDBD2"/>
            </a:solidFill>
            <a:prstDash val="solid"/>
          </a:ln>
        </p:spPr>
      </p:sp>
      <p:sp>
        <p:nvSpPr>
          <p:cNvPr id="21" name="Text 19"/>
          <p:cNvSpPr/>
          <p:nvPr/>
        </p:nvSpPr>
        <p:spPr>
          <a:xfrm>
            <a:off x="9550400" y="1926590"/>
            <a:ext cx="169672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B34A00"/>
                </a:solidFill>
                <a:latin typeface="Source Serif 4" pitchFamily="18" charset="0"/>
                <a:ea typeface="Source Serif 4" pitchFamily="18" charset="-122"/>
                <a:cs typeface="Source Serif 4" pitchFamily="18" charset="-120"/>
              </a:rPr>
              <a:t>5</a:t>
            </a:r>
            <a:endParaRPr lang="en-US" sz="2800" dirty="0"/>
          </a:p>
        </p:txBody>
      </p:sp>
      <p:sp>
        <p:nvSpPr>
          <p:cNvPr id="22" name="Text 20"/>
          <p:cNvSpPr/>
          <p:nvPr/>
        </p:nvSpPr>
        <p:spPr>
          <a:xfrm>
            <a:off x="9550400" y="2371090"/>
            <a:ext cx="16967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2A30"/>
                </a:solidFill>
                <a:latin typeface="IBM Plex Sans" pitchFamily="34" charset="0"/>
                <a:ea typeface="IBM Plex Sans" pitchFamily="34" charset="-122"/>
                <a:cs typeface="IBM Plex Sans" pitchFamily="34" charset="-120"/>
              </a:rPr>
              <a:t>Diagnose and test</a:t>
            </a:r>
            <a:endParaRPr lang="en-US" sz="1500" dirty="0"/>
          </a:p>
        </p:txBody>
      </p:sp>
      <p:sp>
        <p:nvSpPr>
          <p:cNvPr id="23" name="Text 21"/>
          <p:cNvSpPr/>
          <p:nvPr/>
        </p:nvSpPr>
        <p:spPr>
          <a:xfrm>
            <a:off x="9550400" y="2688590"/>
            <a:ext cx="169672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Two disagreeing cells explained; one choice changed and rerun</a:t>
            </a:r>
            <a:endParaRPr lang="en-US" sz="1200" dirty="0"/>
          </a:p>
        </p:txBody>
      </p:sp>
      <p:sp>
        <p:nvSpPr>
          <p:cNvPr id="24" name="Shape 22"/>
          <p:cNvSpPr/>
          <p:nvPr/>
        </p:nvSpPr>
        <p:spPr>
          <a:xfrm>
            <a:off x="812800" y="4029710"/>
            <a:ext cx="10566400" cy="1160780"/>
          </a:xfrm>
          <a:prstGeom prst="roundRect">
            <a:avLst>
              <a:gd name="adj" fmla="val 6565"/>
            </a:avLst>
          </a:prstGeom>
          <a:solidFill>
            <a:srgbClr val="ECEAE3"/>
          </a:solidFill>
          <a:ln/>
        </p:spPr>
      </p:sp>
      <p:sp>
        <p:nvSpPr>
          <p:cNvPr id="25" name="Text 23"/>
          <p:cNvSpPr/>
          <p:nvPr/>
        </p:nvSpPr>
        <p:spPr>
          <a:xfrm>
            <a:off x="1016000" y="4207510"/>
            <a:ext cx="1046480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6525B"/>
                </a:solidFill>
                <a:latin typeface="IBM Plex Sans" pitchFamily="34" charset="0"/>
                <a:ea typeface="IBM Plex Sans" pitchFamily="34" charset="-122"/>
                <a:cs typeface="IBM Plex Sans" pitchFamily="34" charset="-120"/>
              </a:rPr>
              <a:t>OUTPUTS IN THE REPOSITORY</a:t>
            </a:r>
            <a:endParaRPr lang="en-US" sz="1200" dirty="0"/>
          </a:p>
        </p:txBody>
      </p:sp>
      <p:sp>
        <p:nvSpPr>
          <p:cNvPr id="26" name="Text 24"/>
          <p:cNvSpPr/>
          <p:nvPr/>
        </p:nvSpPr>
        <p:spPr>
          <a:xfrm>
            <a:off x="1016000" y="4497070"/>
            <a:ext cx="10464800"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F2A30"/>
                </a:solidFill>
                <a:latin typeface="IBM Plex Sans" pitchFamily="34" charset="0"/>
                <a:ea typeface="IBM Plex Sans" pitchFamily="34" charset="-122"/>
                <a:cs typeface="IBM Plex Sans" pitchFamily="34" charset="-120"/>
              </a:rPr>
              <a:t>Grid and boundary GeoJSON · 12 RGB chips per season · cell-level CSV with visual, method and comparator labels, valid-pixel counts and uncertainty · run logs with every image ID · two Colab notebooks</a:t>
            </a:r>
            <a:endParaRPr lang="en-US" sz="1400" dirty="0"/>
          </a:p>
        </p:txBody>
      </p:sp>
      <p:sp>
        <p:nvSpPr>
          <p:cNvPr id="27" name="Text 25"/>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7C"/>
                </a:solidFill>
                <a:latin typeface="IBM Plex Sans" pitchFamily="34" charset="0"/>
                <a:ea typeface="IBM Plex Sans" pitchFamily="34" charset="-122"/>
                <a:cs typeface="IBM Plex Sans" pitchFamily="34" charset="-120"/>
              </a:rPr>
              <a:t>Kashyapi Dam land cover · 2019</a:t>
            </a:r>
            <a:endParaRPr lang="en-US" sz="1200" dirty="0"/>
          </a:p>
        </p:txBody>
      </p:sp>
      <p:sp>
        <p:nvSpPr>
          <p:cNvPr id="28" name="Text 26"/>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E9A1-A2B2-3ACE-D950-BD3A630EBFE2}"/>
              </a:ext>
            </a:extLst>
          </p:cNvPr>
          <p:cNvSpPr>
            <a:spLocks noGrp="1"/>
          </p:cNvSpPr>
          <p:nvPr>
            <p:ph type="title"/>
          </p:nvPr>
        </p:nvSpPr>
        <p:spPr>
          <a:xfrm>
            <a:off x="95624" y="193938"/>
            <a:ext cx="10566400" cy="438150"/>
          </a:xfrm>
        </p:spPr>
        <p:txBody>
          <a:bodyPr/>
          <a:lstStyle/>
          <a:p>
            <a:r>
              <a:rPr lang="en-IN" dirty="0"/>
              <a:t>Methodology Flowchart</a:t>
            </a:r>
          </a:p>
        </p:txBody>
      </p:sp>
      <p:pic>
        <p:nvPicPr>
          <p:cNvPr id="5" name="Picture 4">
            <a:extLst>
              <a:ext uri="{FF2B5EF4-FFF2-40B4-BE49-F238E27FC236}">
                <a16:creationId xmlns:a16="http://schemas.microsoft.com/office/drawing/2014/main" id="{C60DE13A-8A51-27F0-9565-AD627FBB5B6E}"/>
              </a:ext>
            </a:extLst>
          </p:cNvPr>
          <p:cNvPicPr>
            <a:picLocks noChangeAspect="1"/>
          </p:cNvPicPr>
          <p:nvPr/>
        </p:nvPicPr>
        <p:blipFill>
          <a:blip r:embed="rId2"/>
          <a:stretch>
            <a:fillRect/>
          </a:stretch>
        </p:blipFill>
        <p:spPr>
          <a:xfrm>
            <a:off x="4177513" y="632088"/>
            <a:ext cx="2789831" cy="5895491"/>
          </a:xfrm>
          <a:prstGeom prst="rect">
            <a:avLst/>
          </a:prstGeom>
        </p:spPr>
      </p:pic>
      <p:sp>
        <p:nvSpPr>
          <p:cNvPr id="6" name="Text 26">
            <a:extLst>
              <a:ext uri="{FF2B5EF4-FFF2-40B4-BE49-F238E27FC236}">
                <a16:creationId xmlns:a16="http://schemas.microsoft.com/office/drawing/2014/main" id="{3E8C27BB-19BA-A600-7994-0DCAA63A689D}"/>
              </a:ext>
            </a:extLst>
          </p:cNvPr>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rPr>
              <a:t>3</a:t>
            </a:r>
            <a:endParaRPr lang="en-US" sz="1200" dirty="0"/>
          </a:p>
        </p:txBody>
      </p:sp>
    </p:spTree>
    <p:extLst>
      <p:ext uri="{BB962C8B-B14F-4D97-AF65-F5344CB8AC3E}">
        <p14:creationId xmlns:p14="http://schemas.microsoft.com/office/powerpoint/2010/main" val="1875474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STUDY AREA</a:t>
            </a:r>
            <a:endParaRPr lang="en-US" sz="1200" dirty="0"/>
          </a:p>
        </p:txBody>
      </p:sp>
      <p:sp>
        <p:nvSpPr>
          <p:cNvPr id="3" name="Text 1"/>
          <p:cNvSpPr>
            <a:spLocks noGrp="1"/>
          </p:cNvSpPr>
          <p:nvPr>
            <p:ph type="title"/>
          </p:nvPr>
        </p:nvSpPr>
        <p:spPr>
          <a:xfrm>
            <a:off x="812800" y="10007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A 3 km² box on the reservoir edge</a:t>
            </a:r>
            <a:endParaRPr lang="en-US" sz="3000" dirty="0"/>
          </a:p>
        </p:txBody>
      </p:sp>
      <p:sp>
        <p:nvSpPr>
          <p:cNvPr id="5" name="Text 2"/>
          <p:cNvSpPr/>
          <p:nvPr/>
        </p:nvSpPr>
        <p:spPr>
          <a:xfrm>
            <a:off x="6502400" y="1692911"/>
            <a:ext cx="5023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Where</a:t>
            </a:r>
            <a:endParaRPr lang="en-US" sz="1200" dirty="0"/>
          </a:p>
        </p:txBody>
      </p:sp>
      <p:sp>
        <p:nvSpPr>
          <p:cNvPr id="6" name="Text 3"/>
          <p:cNvSpPr/>
          <p:nvPr/>
        </p:nvSpPr>
        <p:spPr>
          <a:xfrm>
            <a:off x="6502400" y="1931670"/>
            <a:ext cx="502310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30"/>
                </a:solidFill>
                <a:latin typeface="IBM Plex Sans" pitchFamily="34" charset="0"/>
                <a:ea typeface="IBM Plex Sans" pitchFamily="34" charset="-122"/>
                <a:cs typeface="IBM Plex Sans" pitchFamily="34" charset="-120"/>
              </a:rPr>
              <a:t>Western edge of the Kashyapi Dam reservoir, Nashik district, Maharashtra</a:t>
            </a:r>
            <a:endParaRPr lang="en-US" sz="1300" dirty="0"/>
          </a:p>
        </p:txBody>
      </p:sp>
      <p:sp>
        <p:nvSpPr>
          <p:cNvPr id="7" name="Text 4"/>
          <p:cNvSpPr/>
          <p:nvPr/>
        </p:nvSpPr>
        <p:spPr>
          <a:xfrm>
            <a:off x="6502400" y="2533650"/>
            <a:ext cx="5023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Size</a:t>
            </a:r>
            <a:endParaRPr lang="en-US" sz="1200" dirty="0"/>
          </a:p>
        </p:txBody>
      </p:sp>
      <p:sp>
        <p:nvSpPr>
          <p:cNvPr id="8" name="Text 5"/>
          <p:cNvSpPr/>
          <p:nvPr/>
        </p:nvSpPr>
        <p:spPr>
          <a:xfrm>
            <a:off x="6502400" y="2772411"/>
            <a:ext cx="502310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30"/>
                </a:solidFill>
                <a:latin typeface="IBM Plex Sans" pitchFamily="34" charset="0"/>
                <a:ea typeface="IBM Plex Sans" pitchFamily="34" charset="-122"/>
                <a:cs typeface="IBM Plex Sans" pitchFamily="34" charset="-120"/>
              </a:rPr>
              <a:t>2.0 × 1.5 km = 3.0 km² (limit 4 km²); 12 cells of 500 × 500 m, C01–C12, left to right from the north-west</a:t>
            </a:r>
            <a:endParaRPr lang="en-US" sz="1300" dirty="0"/>
          </a:p>
        </p:txBody>
      </p:sp>
      <p:sp>
        <p:nvSpPr>
          <p:cNvPr id="9" name="Text 6"/>
          <p:cNvSpPr/>
          <p:nvPr/>
        </p:nvSpPr>
        <p:spPr>
          <a:xfrm>
            <a:off x="6502400" y="3374391"/>
            <a:ext cx="5023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Corners</a:t>
            </a:r>
            <a:endParaRPr lang="en-US" sz="1200" dirty="0"/>
          </a:p>
        </p:txBody>
      </p:sp>
      <p:sp>
        <p:nvSpPr>
          <p:cNvPr id="10" name="Text 7"/>
          <p:cNvSpPr/>
          <p:nvPr/>
        </p:nvSpPr>
        <p:spPr>
          <a:xfrm>
            <a:off x="6502400" y="3613150"/>
            <a:ext cx="502310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30"/>
                </a:solidFill>
                <a:latin typeface="IBM Plex Sans" pitchFamily="34" charset="0"/>
                <a:ea typeface="IBM Plex Sans" pitchFamily="34" charset="-122"/>
                <a:cs typeface="IBM Plex Sans" pitchFamily="34" charset="-120"/>
              </a:rPr>
              <a:t>SW 20.069111 N, 73.603390 E</a:t>
            </a:r>
            <a:endParaRPr lang="en-US" sz="1300" dirty="0"/>
          </a:p>
          <a:p>
            <a:pPr marL="0" indent="0" algn="l">
              <a:lnSpc>
                <a:spcPts val="1820"/>
              </a:lnSpc>
              <a:buNone/>
            </a:pPr>
            <a:r>
              <a:rPr lang="en-US" sz="1300" dirty="0">
                <a:solidFill>
                  <a:srgbClr val="1F2A30"/>
                </a:solidFill>
                <a:latin typeface="IBM Plex Sans" pitchFamily="34" charset="0"/>
                <a:ea typeface="IBM Plex Sans" pitchFamily="34" charset="-122"/>
                <a:cs typeface="IBM Plex Sans" pitchFamily="34" charset="-120"/>
              </a:rPr>
              <a:t>NE 20.082812 N, 73.622394 E</a:t>
            </a:r>
            <a:endParaRPr lang="en-US" sz="1300" dirty="0"/>
          </a:p>
        </p:txBody>
      </p:sp>
      <p:sp>
        <p:nvSpPr>
          <p:cNvPr id="11" name="Text 8"/>
          <p:cNvSpPr/>
          <p:nvPr/>
        </p:nvSpPr>
        <p:spPr>
          <a:xfrm>
            <a:off x="6502400" y="4215130"/>
            <a:ext cx="5023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Projection</a:t>
            </a:r>
            <a:endParaRPr lang="en-US" sz="1200" dirty="0"/>
          </a:p>
        </p:txBody>
      </p:sp>
      <p:sp>
        <p:nvSpPr>
          <p:cNvPr id="12" name="Text 9"/>
          <p:cNvSpPr/>
          <p:nvPr/>
        </p:nvSpPr>
        <p:spPr>
          <a:xfrm>
            <a:off x="6502400" y="4453891"/>
            <a:ext cx="502310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30"/>
                </a:solidFill>
                <a:latin typeface="IBM Plex Sans" pitchFamily="34" charset="0"/>
                <a:ea typeface="IBM Plex Sans" pitchFamily="34" charset="-122"/>
                <a:cs typeface="IBM Plex Sans" pitchFamily="34" charset="-120"/>
              </a:rPr>
              <a:t>UTM 43N (EPSG:32643); corner snapped to the 10 m Sentinel-2 pixel grid</a:t>
            </a:r>
            <a:endParaRPr lang="en-US" sz="1300" dirty="0"/>
          </a:p>
        </p:txBody>
      </p:sp>
      <p:sp>
        <p:nvSpPr>
          <p:cNvPr id="13" name="Text 10"/>
          <p:cNvSpPr/>
          <p:nvPr/>
        </p:nvSpPr>
        <p:spPr>
          <a:xfrm>
            <a:off x="6502400" y="5055870"/>
            <a:ext cx="5023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Why here</a:t>
            </a:r>
            <a:endParaRPr lang="en-US" sz="1200" dirty="0"/>
          </a:p>
        </p:txBody>
      </p:sp>
      <p:sp>
        <p:nvSpPr>
          <p:cNvPr id="14" name="Text 11"/>
          <p:cNvSpPr/>
          <p:nvPr/>
        </p:nvSpPr>
        <p:spPr>
          <a:xfrm>
            <a:off x="6502400" y="5294630"/>
            <a:ext cx="502310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30"/>
                </a:solidFill>
                <a:latin typeface="IBM Plex Sans" pitchFamily="34" charset="0"/>
                <a:ea typeface="IBM Plex Sans" pitchFamily="34" charset="-122"/>
                <a:cs typeface="IBM Plex Sans" pitchFamily="34" charset="-120"/>
              </a:rPr>
              <a:t>Open water, a seasonal margin, a village, farmland and hill scrub in one box</a:t>
            </a:r>
            <a:endParaRPr lang="en-US" sz="1300" dirty="0"/>
          </a:p>
        </p:txBody>
      </p:sp>
      <p:pic>
        <p:nvPicPr>
          <p:cNvPr id="17" name="Picture 16">
            <a:extLst>
              <a:ext uri="{FF2B5EF4-FFF2-40B4-BE49-F238E27FC236}">
                <a16:creationId xmlns:a16="http://schemas.microsoft.com/office/drawing/2014/main" id="{DDCDDE6A-EBC8-DA08-C028-763DE57FDD8A}"/>
              </a:ext>
            </a:extLst>
          </p:cNvPr>
          <p:cNvPicPr>
            <a:picLocks noChangeAspect="1"/>
          </p:cNvPicPr>
          <p:nvPr/>
        </p:nvPicPr>
        <p:blipFill>
          <a:blip r:embed="rId3"/>
          <a:stretch>
            <a:fillRect/>
          </a:stretch>
        </p:blipFill>
        <p:spPr>
          <a:xfrm>
            <a:off x="1831687" y="1515112"/>
            <a:ext cx="3273713" cy="2417895"/>
          </a:xfrm>
          <a:prstGeom prst="rect">
            <a:avLst/>
          </a:prstGeom>
        </p:spPr>
      </p:pic>
      <p:pic>
        <p:nvPicPr>
          <p:cNvPr id="18" name="Image 0" descr="Sentinel-2 Oct–Dec 2019 true-colour composite of the study area with the 3 × 4 grid and cell IDs C01 to C12">
            <a:extLst>
              <a:ext uri="{FF2B5EF4-FFF2-40B4-BE49-F238E27FC236}">
                <a16:creationId xmlns:a16="http://schemas.microsoft.com/office/drawing/2014/main" id="{B9573388-180F-18F7-9478-A5B96EE191CE}"/>
              </a:ext>
            </a:extLst>
          </p:cNvPr>
          <p:cNvPicPr>
            <a:picLocks noChangeAspect="1"/>
          </p:cNvPicPr>
          <p:nvPr/>
        </p:nvPicPr>
        <p:blipFill>
          <a:blip r:embed="rId4"/>
          <a:srcRect/>
          <a:stretch/>
        </p:blipFill>
        <p:spPr>
          <a:xfrm>
            <a:off x="1831687" y="4100830"/>
            <a:ext cx="3273713" cy="2455285"/>
          </a:xfrm>
          <a:prstGeom prst="roundRect">
            <a:avLst>
              <a:gd name="adj" fmla="val 1404"/>
            </a:avLst>
          </a:prstGeom>
        </p:spPr>
      </p:pic>
      <p:sp>
        <p:nvSpPr>
          <p:cNvPr id="4" name="Text 26">
            <a:extLst>
              <a:ext uri="{FF2B5EF4-FFF2-40B4-BE49-F238E27FC236}">
                <a16:creationId xmlns:a16="http://schemas.microsoft.com/office/drawing/2014/main" id="{F8538465-596D-5ED5-A81E-7BBF570A25F0}"/>
              </a:ext>
            </a:extLst>
          </p:cNvPr>
          <p:cNvSpPr/>
          <p:nvPr/>
        </p:nvSpPr>
        <p:spPr>
          <a:xfrm>
            <a:off x="10210800" y="63906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7728"/>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5A8C"/>
                </a:solidFill>
                <a:latin typeface="IBM Plex Sans" pitchFamily="34" charset="0"/>
                <a:ea typeface="IBM Plex Sans" pitchFamily="34" charset="-122"/>
                <a:cs typeface="IBM Plex Sans" pitchFamily="34" charset="-120"/>
              </a:rPr>
              <a:t>IMAGERY</a:t>
            </a:r>
            <a:endParaRPr lang="en-US" sz="1196" dirty="0"/>
          </a:p>
        </p:txBody>
      </p:sp>
      <p:sp>
        <p:nvSpPr>
          <p:cNvPr id="3" name="Text 1"/>
          <p:cNvSpPr>
            <a:spLocks noGrp="1"/>
          </p:cNvSpPr>
          <p:nvPr>
            <p:ph type="title"/>
          </p:nvPr>
        </p:nvSpPr>
        <p:spPr>
          <a:xfrm>
            <a:off x="812800" y="999728"/>
            <a:ext cx="10883392" cy="461407"/>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Two 2019 seasons, cloud-screened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99896"/>
          <a:ext cx="6847840" cy="1427480"/>
        </p:xfrm>
        <a:graphic>
          <a:graphicData uri="http://schemas.openxmlformats.org/drawingml/2006/table">
            <a:tbl>
              <a:tblPr/>
              <a:tblGrid>
                <a:gridCol w="1643482">
                  <a:extLst>
                    <a:ext uri="{9D8B030D-6E8A-4147-A177-3AD203B41FA5}">
                      <a16:colId xmlns:a16="http://schemas.microsoft.com/office/drawing/2014/main" val="20000"/>
                    </a:ext>
                  </a:extLst>
                </a:gridCol>
                <a:gridCol w="2602179">
                  <a:extLst>
                    <a:ext uri="{9D8B030D-6E8A-4147-A177-3AD203B41FA5}">
                      <a16:colId xmlns:a16="http://schemas.microsoft.com/office/drawing/2014/main" val="20001"/>
                    </a:ext>
                  </a:extLst>
                </a:gridCol>
                <a:gridCol w="2602179">
                  <a:extLst>
                    <a:ext uri="{9D8B030D-6E8A-4147-A177-3AD203B41FA5}">
                      <a16:colId xmlns:a16="http://schemas.microsoft.com/office/drawing/2014/main" val="20002"/>
                    </a:ext>
                  </a:extLst>
                </a:gridCol>
              </a:tblGrid>
              <a:tr h="356870">
                <a:tc>
                  <a:txBody>
                    <a:bodyPr/>
                    <a:lstStyle/>
                    <a:p>
                      <a:pPr marL="0" indent="0">
                        <a:lnSpc>
                          <a:spcPts val="1820"/>
                        </a:lnSpc>
                        <a:buNone/>
                      </a:pP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Main window</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Second window</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Dates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1 Oct – 31 Dec 2019</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1 Feb – 31 Mar 2019</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Scenes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25 (tile 43QCC)</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23 (tile 43QCC)</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Chips, visual labels, model input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Model input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98144" y="3330575"/>
            <a:ext cx="6970776" cy="1461770"/>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COPERNICUS/S2_SR_HARMONIZED (Level-2A)</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Scenes with cloud ≤ 35%; pixels kept where Cloud Score+ cs_cdf ≥ 0.60</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Per-pixel median of B2, B3, B4, B8, B11, B12 at 10 m</a:t>
            </a:r>
            <a:endParaRPr lang="en-US" sz="1300" dirty="0"/>
          </a:p>
          <a:p>
            <a:pPr marL="168656" indent="-168656" algn="l">
              <a:lnSpc>
                <a:spcPts val="1885"/>
              </a:lnSpc>
              <a:buSzPct val="100000"/>
              <a:buChar char="•"/>
            </a:pPr>
            <a:r>
              <a:rPr lang="en-US" sz="1300" b="1" dirty="0">
                <a:solidFill>
                  <a:srgbClr val="46525B"/>
                </a:solidFill>
                <a:latin typeface="IBM Plex Sans" pitchFamily="34" charset="0"/>
                <a:ea typeface="IBM Plex Sans" pitchFamily="34" charset="-122"/>
                <a:cs typeface="IBM Plex Sans" pitchFamily="34" charset="-120"/>
              </a:rPr>
              <a:t>Valid data: 2,500 of 2,500 pixels in every cell, both windows</a:t>
            </a:r>
            <a:r>
              <a:rPr lang="en-US" sz="1300" dirty="0">
                <a:solidFill>
                  <a:srgbClr val="46525B"/>
                </a:solidFill>
                <a:latin typeface="IBM Plex Sans" pitchFamily="34" charset="0"/>
                <a:ea typeface="IBM Plex Sans" pitchFamily="34" charset="-122"/>
                <a:cs typeface="IBM Plex Sans" pitchFamily="34" charset="-120"/>
              </a:rPr>
              <a:t> (about 22–25 clear looks per pixel)</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Chips: B4/B3/B2, one fixed 0–0.30 reflectance stretch</a:t>
            </a:r>
            <a:endParaRPr lang="en-US" sz="1300" dirty="0"/>
          </a:p>
        </p:txBody>
      </p:sp>
      <p:sp>
        <p:nvSpPr>
          <p:cNvPr id="6" name="Text 3"/>
          <p:cNvSpPr/>
          <p:nvPr/>
        </p:nvSpPr>
        <p:spPr>
          <a:xfrm>
            <a:off x="8077200" y="1689736"/>
            <a:ext cx="16383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6525B"/>
                </a:solidFill>
                <a:latin typeface="IBM Plex Sans" pitchFamily="34" charset="0"/>
                <a:ea typeface="IBM Plex Sans" pitchFamily="34" charset="-122"/>
                <a:cs typeface="IBM Plex Sans" pitchFamily="34" charset="-120"/>
              </a:rPr>
              <a:t>Oct–Dec</a:t>
            </a:r>
            <a:endParaRPr lang="en-US" sz="1200" dirty="0"/>
          </a:p>
        </p:txBody>
      </p:sp>
      <p:sp>
        <p:nvSpPr>
          <p:cNvPr id="7" name="Text 4"/>
          <p:cNvSpPr/>
          <p:nvPr/>
        </p:nvSpPr>
        <p:spPr>
          <a:xfrm>
            <a:off x="9791700" y="1689736"/>
            <a:ext cx="16383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6525B"/>
                </a:solidFill>
                <a:latin typeface="IBM Plex Sans" pitchFamily="34" charset="0"/>
                <a:ea typeface="IBM Plex Sans" pitchFamily="34" charset="-122"/>
                <a:cs typeface="IBM Plex Sans" pitchFamily="34" charset="-120"/>
              </a:rPr>
              <a:t>Feb–Mar</a:t>
            </a:r>
            <a:endParaRPr lang="en-US" sz="1200" dirty="0"/>
          </a:p>
        </p:txBody>
      </p:sp>
      <p:pic>
        <p:nvPicPr>
          <p:cNvPr id="8" name="Image 0" descr="Cell C02 Oct–Dec 2019 chip: green-brown hill slope"/>
          <p:cNvPicPr>
            <a:picLocks noChangeAspect="1"/>
          </p:cNvPicPr>
          <p:nvPr/>
        </p:nvPicPr>
        <p:blipFill>
          <a:blip r:embed="rId3"/>
          <a:srcRect/>
          <a:stretch/>
        </p:blipFill>
        <p:spPr>
          <a:xfrm>
            <a:off x="8077200" y="2030095"/>
            <a:ext cx="1587500" cy="1587500"/>
          </a:xfrm>
          <a:prstGeom prst="roundRect">
            <a:avLst>
              <a:gd name="adj" fmla="val 2400"/>
            </a:avLst>
          </a:prstGeom>
        </p:spPr>
      </p:pic>
      <p:pic>
        <p:nvPicPr>
          <p:cNvPr id="9" name="Image 1" descr="Cell C02 Feb–Mar 2019 chip: pale dry slope"/>
          <p:cNvPicPr>
            <a:picLocks noChangeAspect="1"/>
          </p:cNvPicPr>
          <p:nvPr/>
        </p:nvPicPr>
        <p:blipFill>
          <a:blip r:embed="rId4"/>
          <a:srcRect/>
          <a:stretch/>
        </p:blipFill>
        <p:spPr>
          <a:xfrm>
            <a:off x="9791700" y="2030095"/>
            <a:ext cx="1587500" cy="1587500"/>
          </a:xfrm>
          <a:prstGeom prst="roundRect">
            <a:avLst>
              <a:gd name="adj" fmla="val 2400"/>
            </a:avLst>
          </a:prstGeom>
        </p:spPr>
      </p:pic>
      <p:pic>
        <p:nvPicPr>
          <p:cNvPr id="10" name="Image 2" descr="Cell C08 Oct–Dec 2019 chip: farmland"/>
          <p:cNvPicPr>
            <a:picLocks noChangeAspect="1"/>
          </p:cNvPicPr>
          <p:nvPr/>
        </p:nvPicPr>
        <p:blipFill>
          <a:blip r:embed="rId5"/>
          <a:srcRect/>
          <a:stretch/>
        </p:blipFill>
        <p:spPr>
          <a:xfrm>
            <a:off x="8077200" y="3744595"/>
            <a:ext cx="1587500" cy="1587500"/>
          </a:xfrm>
          <a:prstGeom prst="roundRect">
            <a:avLst>
              <a:gd name="adj" fmla="val 2400"/>
            </a:avLst>
          </a:prstGeom>
        </p:spPr>
      </p:pic>
      <p:pic>
        <p:nvPicPr>
          <p:cNvPr id="11" name="Image 3" descr="Cell C08 Feb–Mar 2019 chip: farmland"/>
          <p:cNvPicPr>
            <a:picLocks noChangeAspect="1"/>
          </p:cNvPicPr>
          <p:nvPr/>
        </p:nvPicPr>
        <p:blipFill>
          <a:blip r:embed="rId6"/>
          <a:srcRect/>
          <a:stretch/>
        </p:blipFill>
        <p:spPr>
          <a:xfrm>
            <a:off x="9791700" y="3744595"/>
            <a:ext cx="1587500" cy="1587500"/>
          </a:xfrm>
          <a:prstGeom prst="roundRect">
            <a:avLst>
              <a:gd name="adj" fmla="val 2400"/>
            </a:avLst>
          </a:prstGeom>
        </p:spPr>
      </p:pic>
      <p:sp>
        <p:nvSpPr>
          <p:cNvPr id="12" name="Text 5"/>
          <p:cNvSpPr/>
          <p:nvPr/>
        </p:nvSpPr>
        <p:spPr>
          <a:xfrm>
            <a:off x="8077200" y="5433695"/>
            <a:ext cx="34010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C02 (slope, top) and C08 (farmland, bottom): they separate in the dry season</a:t>
            </a:r>
            <a:endParaRPr lang="en-US" sz="1200" dirty="0"/>
          </a:p>
        </p:txBody>
      </p:sp>
      <p:sp>
        <p:nvSpPr>
          <p:cNvPr id="13" name="Text 6"/>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7C"/>
                </a:solidFill>
                <a:latin typeface="IBM Plex Sans" pitchFamily="34" charset="0"/>
                <a:ea typeface="IBM Plex Sans" pitchFamily="34" charset="-122"/>
                <a:cs typeface="IBM Plex Sans" pitchFamily="34" charset="-120"/>
              </a:rPr>
              <a:t>Kashyapi Dam land cover · 2019</a:t>
            </a:r>
            <a:endParaRPr lang="en-US" sz="1200" dirty="0"/>
          </a:p>
        </p:txBody>
      </p:sp>
      <p:sp>
        <p:nvSpPr>
          <p:cNvPr id="15" name="Text 26">
            <a:extLst>
              <a:ext uri="{FF2B5EF4-FFF2-40B4-BE49-F238E27FC236}">
                <a16:creationId xmlns:a16="http://schemas.microsoft.com/office/drawing/2014/main" id="{952C542C-5AB5-DA96-2552-F405B5457809}"/>
              </a:ext>
            </a:extLst>
          </p:cNvPr>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CLASS SCHEME</a:t>
            </a:r>
            <a:endParaRPr lang="en-US" sz="1200" dirty="0"/>
          </a:p>
        </p:txBody>
      </p:sp>
      <p:sp>
        <p:nvSpPr>
          <p:cNvPr id="3" name="Text 1"/>
          <p:cNvSpPr>
            <a:spLocks noGrp="1"/>
          </p:cNvSpPr>
          <p:nvPr>
            <p:ph type="title"/>
          </p:nvPr>
        </p:nvSpPr>
        <p:spPr>
          <a:xfrm>
            <a:off x="812800" y="10007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Six CGLS classes, one cell rule for every source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52271"/>
          <a:ext cx="10556240" cy="2971800"/>
        </p:xfrm>
        <a:graphic>
          <a:graphicData uri="http://schemas.openxmlformats.org/drawingml/2006/table">
            <a:tbl>
              <a:tblPr/>
              <a:tblGrid>
                <a:gridCol w="2955747">
                  <a:extLst>
                    <a:ext uri="{9D8B030D-6E8A-4147-A177-3AD203B41FA5}">
                      <a16:colId xmlns:a16="http://schemas.microsoft.com/office/drawing/2014/main" val="20000"/>
                    </a:ext>
                  </a:extLst>
                </a:gridCol>
                <a:gridCol w="7600493">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Class (CGLS code)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Definition used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Shrubs (20)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Woody perennials with persistent woody stems, under 5 m, no single main stem</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Herbaceous vegetation (30)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No persistent stem above ground; tree and shrub cover below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Cropland (40)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Temporary crops then harvest and bare soil, including fallow plots and field margins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Built-up (50)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Buildings, roads and other man-made surfaces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Bare or sparse vegetation (60)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Soil, sand or rock with vegetation below 10% all year</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Permanent water (80)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Lakes, reservoirs and rivers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Herbaceous wetland (90)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Comparator only: permanent mix of water and herbaceous or woody vegetation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Forest (111–126)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Comparator only: tree canopy above 15%, the twelve CGLS forest types merged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4827271"/>
            <a:ext cx="10566400" cy="459740"/>
          </a:xfrm>
          <a:prstGeom prst="roundRect">
            <a:avLst>
              <a:gd name="adj" fmla="val 13812"/>
            </a:avLst>
          </a:prstGeom>
          <a:solidFill>
            <a:srgbClr val="E3EEF5"/>
          </a:solidFill>
          <a:ln/>
        </p:spPr>
        <p:txBody>
          <a:bodyPr wrap="square" lIns="133801" tIns="95701" rIns="0" bIns="70301" rtlCol="0" anchor="t">
            <a:normAutofit/>
          </a:bodyPr>
          <a:lstStyle/>
          <a:p>
            <a:pPr marL="0" indent="0" algn="l">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Cell rule:</a:t>
            </a:r>
            <a:r>
              <a:rPr lang="en-US" sz="1300" dirty="0">
                <a:solidFill>
                  <a:srgbClr val="1F2A30"/>
                </a:solidFill>
                <a:latin typeface="IBM Plex Sans" pitchFamily="34" charset="0"/>
                <a:ea typeface="IBM Plex Sans" pitchFamily="34" charset="-122"/>
                <a:cs typeface="IBM Plex Sans" pitchFamily="34" charset="-120"/>
              </a:rPr>
              <a:t> a cell takes one class only if it covers more than 50% of the cell's 10 m pixels; otherwise "Mixed (top and second)".</a:t>
            </a:r>
            <a:endParaRPr lang="en-US" sz="1300" dirty="0"/>
          </a:p>
        </p:txBody>
      </p:sp>
      <p:sp>
        <p:nvSpPr>
          <p:cNvPr id="6" name="Text 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7C"/>
                </a:solidFill>
                <a:latin typeface="IBM Plex Sans" pitchFamily="34" charset="0"/>
                <a:ea typeface="IBM Plex Sans" pitchFamily="34" charset="-122"/>
                <a:cs typeface="IBM Plex Sans" pitchFamily="34" charset="-120"/>
              </a:rPr>
              <a:t>Kashyapi Dam land cover · 2019</a:t>
            </a:r>
            <a:endParaRPr lang="en-US" sz="1200" dirty="0"/>
          </a:p>
        </p:txBody>
      </p:sp>
      <p:sp>
        <p:nvSpPr>
          <p:cNvPr id="7" name="Text 4"/>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VISUAL LABELS</a:t>
            </a:r>
            <a:endParaRPr lang="en-US" sz="1200" dirty="0"/>
          </a:p>
        </p:txBody>
      </p:sp>
      <p:sp>
        <p:nvSpPr>
          <p:cNvPr id="3" name="Text 1"/>
          <p:cNvSpPr>
            <a:spLocks noGrp="1"/>
          </p:cNvSpPr>
          <p:nvPr>
            <p:ph type="title"/>
          </p:nvPr>
        </p:nvSpPr>
        <p:spPr>
          <a:xfrm>
            <a:off x="812800" y="10007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Six cells, labelled by eye before any map</a:t>
            </a:r>
            <a:endParaRPr lang="en-US" sz="3000" dirty="0"/>
          </a:p>
        </p:txBody>
      </p:sp>
      <p:sp>
        <p:nvSpPr>
          <p:cNvPr id="4" name="Text 2"/>
          <p:cNvSpPr/>
          <p:nvPr/>
        </p:nvSpPr>
        <p:spPr>
          <a:xfrm>
            <a:off x="812800" y="1616711"/>
            <a:ext cx="113792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25B"/>
                </a:solidFill>
                <a:latin typeface="IBM Plex Sans" pitchFamily="34" charset="0"/>
                <a:ea typeface="IBM Plex Sans" pitchFamily="34" charset="-122"/>
                <a:cs typeface="IBM Plex Sans" pitchFamily="34" charset="-120"/>
              </a:rPr>
              <a:t>Drawn with </a:t>
            </a:r>
            <a:r>
              <a:rPr lang="en-US" sz="1300" b="1" dirty="0">
                <a:solidFill>
                  <a:srgbClr val="46525B"/>
                </a:solidFill>
                <a:latin typeface="IBM Plex Sans" pitchFamily="34" charset="0"/>
                <a:ea typeface="IBM Plex Sans" pitchFamily="34" charset="-122"/>
                <a:cs typeface="IBM Plex Sans" pitchFamily="34" charset="-120"/>
              </a:rPr>
              <a:t>random.Random(2019).sample</a:t>
            </a:r>
            <a:r>
              <a:rPr lang="en-US" sz="1300" dirty="0">
                <a:solidFill>
                  <a:srgbClr val="46525B"/>
                </a:solidFill>
                <a:latin typeface="IBM Plex Sans" pitchFamily="34" charset="0"/>
                <a:ea typeface="IBM Plex Sans" pitchFamily="34" charset="-122"/>
                <a:cs typeface="IBM Plex Sans" pitchFamily="34" charset="-120"/>
              </a:rPr>
              <a:t>, two cells per grid row, seed fixed before viewing. Labelled from the Oct–Dec chips, without AI.</a:t>
            </a:r>
            <a:endParaRPr lang="en-US" sz="1300" dirty="0"/>
          </a:p>
        </p:txBody>
      </p:sp>
      <p:sp>
        <p:nvSpPr>
          <p:cNvPr id="5" name="Shape 3"/>
          <p:cNvSpPr/>
          <p:nvPr/>
        </p:nvSpPr>
        <p:spPr>
          <a:xfrm>
            <a:off x="815975" y="2028825"/>
            <a:ext cx="3431064" cy="1311910"/>
          </a:xfrm>
          <a:prstGeom prst="roundRect">
            <a:avLst>
              <a:gd name="adj" fmla="val 5566"/>
            </a:avLst>
          </a:prstGeom>
          <a:solidFill>
            <a:srgbClr val="FDFCF9"/>
          </a:solidFill>
          <a:ln w="6350">
            <a:solidFill>
              <a:srgbClr val="DEDBD2"/>
            </a:solidFill>
            <a:prstDash val="solid"/>
          </a:ln>
        </p:spPr>
      </p:sp>
      <p:pic>
        <p:nvPicPr>
          <p:cNvPr id="6" name="Image 0" descr="Chip of cell C01"/>
          <p:cNvPicPr>
            <a:picLocks noChangeAspect="1"/>
          </p:cNvPicPr>
          <p:nvPr/>
        </p:nvPicPr>
        <p:blipFill>
          <a:blip r:embed="rId3"/>
          <a:srcRect/>
          <a:stretch/>
        </p:blipFill>
        <p:spPr>
          <a:xfrm>
            <a:off x="932180" y="2145032"/>
            <a:ext cx="1079500" cy="1079500"/>
          </a:xfrm>
          <a:prstGeom prst="roundRect">
            <a:avLst>
              <a:gd name="adj" fmla="val 3529"/>
            </a:avLst>
          </a:prstGeom>
        </p:spPr>
      </p:pic>
      <p:sp>
        <p:nvSpPr>
          <p:cNvPr id="7" name="Text 4"/>
          <p:cNvSpPr/>
          <p:nvPr/>
        </p:nvSpPr>
        <p:spPr>
          <a:xfrm>
            <a:off x="2138680" y="2145032"/>
            <a:ext cx="205191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C01 · High</a:t>
            </a:r>
            <a:endParaRPr lang="en-US" sz="1200" dirty="0"/>
          </a:p>
        </p:txBody>
      </p:sp>
      <p:sp>
        <p:nvSpPr>
          <p:cNvPr id="8" name="Text 5"/>
          <p:cNvSpPr/>
          <p:nvPr/>
        </p:nvSpPr>
        <p:spPr>
          <a:xfrm>
            <a:off x="2138680" y="2396489"/>
            <a:ext cx="205191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F2A30"/>
                </a:solidFill>
                <a:latin typeface="IBM Plex Sans" pitchFamily="34" charset="0"/>
                <a:ea typeface="IBM Plex Sans" pitchFamily="34" charset="-122"/>
                <a:cs typeface="IBM Plex Sans" pitchFamily="34" charset="-120"/>
              </a:rPr>
              <a:t>Permanent water</a:t>
            </a:r>
            <a:endParaRPr lang="en-US" sz="1300" dirty="0"/>
          </a:p>
        </p:txBody>
      </p:sp>
      <p:sp>
        <p:nvSpPr>
          <p:cNvPr id="10" name="Shape 7"/>
          <p:cNvSpPr/>
          <p:nvPr/>
        </p:nvSpPr>
        <p:spPr>
          <a:xfrm>
            <a:off x="4380389" y="2028825"/>
            <a:ext cx="3431143" cy="1311910"/>
          </a:xfrm>
          <a:prstGeom prst="roundRect">
            <a:avLst>
              <a:gd name="adj" fmla="val 5566"/>
            </a:avLst>
          </a:prstGeom>
          <a:solidFill>
            <a:srgbClr val="FDFCF9"/>
          </a:solidFill>
          <a:ln w="6350">
            <a:solidFill>
              <a:srgbClr val="DEDBD2"/>
            </a:solidFill>
            <a:prstDash val="solid"/>
          </a:ln>
        </p:spPr>
      </p:sp>
      <p:pic>
        <p:nvPicPr>
          <p:cNvPr id="11" name="Image 1" descr="Chip of cell C02"/>
          <p:cNvPicPr>
            <a:picLocks noChangeAspect="1"/>
          </p:cNvPicPr>
          <p:nvPr/>
        </p:nvPicPr>
        <p:blipFill>
          <a:blip r:embed="rId4"/>
          <a:srcRect/>
          <a:stretch/>
        </p:blipFill>
        <p:spPr>
          <a:xfrm>
            <a:off x="4496594" y="2145032"/>
            <a:ext cx="1079500" cy="1079500"/>
          </a:xfrm>
          <a:prstGeom prst="roundRect">
            <a:avLst>
              <a:gd name="adj" fmla="val 3529"/>
            </a:avLst>
          </a:prstGeom>
        </p:spPr>
      </p:pic>
      <p:sp>
        <p:nvSpPr>
          <p:cNvPr id="12" name="Text 8"/>
          <p:cNvSpPr/>
          <p:nvPr/>
        </p:nvSpPr>
        <p:spPr>
          <a:xfrm>
            <a:off x="5703094" y="2145032"/>
            <a:ext cx="20520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C02 · High</a:t>
            </a:r>
            <a:endParaRPr lang="en-US" sz="1200" dirty="0"/>
          </a:p>
        </p:txBody>
      </p:sp>
      <p:sp>
        <p:nvSpPr>
          <p:cNvPr id="13" name="Text 9"/>
          <p:cNvSpPr/>
          <p:nvPr/>
        </p:nvSpPr>
        <p:spPr>
          <a:xfrm>
            <a:off x="5703094" y="2396489"/>
            <a:ext cx="20520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F2A30"/>
                </a:solidFill>
                <a:latin typeface="IBM Plex Sans" pitchFamily="34" charset="0"/>
                <a:ea typeface="IBM Plex Sans" pitchFamily="34" charset="-122"/>
                <a:cs typeface="IBM Plex Sans" pitchFamily="34" charset="-120"/>
              </a:rPr>
              <a:t>Shrubs</a:t>
            </a:r>
            <a:endParaRPr lang="en-US" sz="1300" dirty="0"/>
          </a:p>
        </p:txBody>
      </p:sp>
      <p:sp>
        <p:nvSpPr>
          <p:cNvPr id="15" name="Shape 11"/>
          <p:cNvSpPr/>
          <p:nvPr/>
        </p:nvSpPr>
        <p:spPr>
          <a:xfrm>
            <a:off x="7944882" y="2028825"/>
            <a:ext cx="3431143" cy="1311910"/>
          </a:xfrm>
          <a:prstGeom prst="roundRect">
            <a:avLst>
              <a:gd name="adj" fmla="val 5566"/>
            </a:avLst>
          </a:prstGeom>
          <a:solidFill>
            <a:srgbClr val="FDFCF9"/>
          </a:solidFill>
          <a:ln w="6350">
            <a:solidFill>
              <a:srgbClr val="DEDBD2"/>
            </a:solidFill>
            <a:prstDash val="solid"/>
          </a:ln>
        </p:spPr>
      </p:sp>
      <p:pic>
        <p:nvPicPr>
          <p:cNvPr id="16" name="Image 2" descr="Chip of cell C05"/>
          <p:cNvPicPr>
            <a:picLocks noChangeAspect="1"/>
          </p:cNvPicPr>
          <p:nvPr/>
        </p:nvPicPr>
        <p:blipFill>
          <a:blip r:embed="rId5"/>
          <a:srcRect/>
          <a:stretch/>
        </p:blipFill>
        <p:spPr>
          <a:xfrm>
            <a:off x="8061087" y="2145032"/>
            <a:ext cx="1079500" cy="1079500"/>
          </a:xfrm>
          <a:prstGeom prst="roundRect">
            <a:avLst>
              <a:gd name="adj" fmla="val 3529"/>
            </a:avLst>
          </a:prstGeom>
        </p:spPr>
      </p:pic>
      <p:sp>
        <p:nvSpPr>
          <p:cNvPr id="17" name="Text 12"/>
          <p:cNvSpPr/>
          <p:nvPr/>
        </p:nvSpPr>
        <p:spPr>
          <a:xfrm>
            <a:off x="9267587" y="2145032"/>
            <a:ext cx="20520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C05 · High</a:t>
            </a:r>
            <a:endParaRPr lang="en-US" sz="1200" dirty="0"/>
          </a:p>
        </p:txBody>
      </p:sp>
      <p:sp>
        <p:nvSpPr>
          <p:cNvPr id="18" name="Text 13"/>
          <p:cNvSpPr/>
          <p:nvPr/>
        </p:nvSpPr>
        <p:spPr>
          <a:xfrm>
            <a:off x="9267587" y="2396489"/>
            <a:ext cx="20520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F2A30"/>
                </a:solidFill>
                <a:latin typeface="IBM Plex Sans" pitchFamily="34" charset="0"/>
                <a:ea typeface="IBM Plex Sans" pitchFamily="34" charset="-122"/>
                <a:cs typeface="IBM Plex Sans" pitchFamily="34" charset="-120"/>
              </a:rPr>
              <a:t>Permanent water</a:t>
            </a:r>
            <a:endParaRPr lang="en-US" sz="1300" dirty="0"/>
          </a:p>
        </p:txBody>
      </p:sp>
      <p:sp>
        <p:nvSpPr>
          <p:cNvPr id="20" name="Shape 15"/>
          <p:cNvSpPr/>
          <p:nvPr/>
        </p:nvSpPr>
        <p:spPr>
          <a:xfrm>
            <a:off x="815975" y="3474086"/>
            <a:ext cx="3431064" cy="1311910"/>
          </a:xfrm>
          <a:prstGeom prst="roundRect">
            <a:avLst>
              <a:gd name="adj" fmla="val 5566"/>
            </a:avLst>
          </a:prstGeom>
          <a:solidFill>
            <a:srgbClr val="FDFCF9"/>
          </a:solidFill>
          <a:ln w="6350">
            <a:solidFill>
              <a:srgbClr val="DEDBD2"/>
            </a:solidFill>
            <a:prstDash val="solid"/>
          </a:ln>
        </p:spPr>
      </p:sp>
      <p:pic>
        <p:nvPicPr>
          <p:cNvPr id="21" name="Image 3" descr="Chip of cell C08"/>
          <p:cNvPicPr>
            <a:picLocks noChangeAspect="1"/>
          </p:cNvPicPr>
          <p:nvPr/>
        </p:nvPicPr>
        <p:blipFill>
          <a:blip r:embed="rId6"/>
          <a:srcRect/>
          <a:stretch/>
        </p:blipFill>
        <p:spPr>
          <a:xfrm>
            <a:off x="932180" y="3590289"/>
            <a:ext cx="1079500" cy="1079500"/>
          </a:xfrm>
          <a:prstGeom prst="roundRect">
            <a:avLst>
              <a:gd name="adj" fmla="val 3529"/>
            </a:avLst>
          </a:prstGeom>
        </p:spPr>
      </p:pic>
      <p:sp>
        <p:nvSpPr>
          <p:cNvPr id="22" name="Text 16"/>
          <p:cNvSpPr/>
          <p:nvPr/>
        </p:nvSpPr>
        <p:spPr>
          <a:xfrm>
            <a:off x="2138680" y="3590289"/>
            <a:ext cx="205191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C08 · Medium</a:t>
            </a:r>
            <a:endParaRPr lang="en-US" sz="1200" dirty="0"/>
          </a:p>
        </p:txBody>
      </p:sp>
      <p:sp>
        <p:nvSpPr>
          <p:cNvPr id="23" name="Text 17"/>
          <p:cNvSpPr/>
          <p:nvPr/>
        </p:nvSpPr>
        <p:spPr>
          <a:xfrm>
            <a:off x="2138680" y="3841750"/>
            <a:ext cx="205191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F2A30"/>
                </a:solidFill>
                <a:latin typeface="IBM Plex Sans" pitchFamily="34" charset="0"/>
                <a:ea typeface="IBM Plex Sans" pitchFamily="34" charset="-122"/>
                <a:cs typeface="IBM Plex Sans" pitchFamily="34" charset="-120"/>
              </a:rPr>
              <a:t>Cropland</a:t>
            </a:r>
            <a:endParaRPr lang="en-US" sz="1300" dirty="0"/>
          </a:p>
        </p:txBody>
      </p:sp>
      <p:sp>
        <p:nvSpPr>
          <p:cNvPr id="25" name="Shape 19"/>
          <p:cNvSpPr/>
          <p:nvPr/>
        </p:nvSpPr>
        <p:spPr>
          <a:xfrm>
            <a:off x="4380389" y="3474086"/>
            <a:ext cx="3431143" cy="1311910"/>
          </a:xfrm>
          <a:prstGeom prst="roundRect">
            <a:avLst>
              <a:gd name="adj" fmla="val 5566"/>
            </a:avLst>
          </a:prstGeom>
          <a:solidFill>
            <a:srgbClr val="FDFCF9"/>
          </a:solidFill>
          <a:ln w="6350">
            <a:solidFill>
              <a:srgbClr val="DEDBD2"/>
            </a:solidFill>
            <a:prstDash val="solid"/>
          </a:ln>
        </p:spPr>
      </p:sp>
      <p:pic>
        <p:nvPicPr>
          <p:cNvPr id="26" name="Image 4" descr="Chip of cell C10"/>
          <p:cNvPicPr>
            <a:picLocks noChangeAspect="1"/>
          </p:cNvPicPr>
          <p:nvPr/>
        </p:nvPicPr>
        <p:blipFill>
          <a:blip r:embed="rId7"/>
          <a:srcRect/>
          <a:stretch/>
        </p:blipFill>
        <p:spPr>
          <a:xfrm>
            <a:off x="4496594" y="3590289"/>
            <a:ext cx="1079500" cy="1079500"/>
          </a:xfrm>
          <a:prstGeom prst="roundRect">
            <a:avLst>
              <a:gd name="adj" fmla="val 3529"/>
            </a:avLst>
          </a:prstGeom>
        </p:spPr>
      </p:pic>
      <p:sp>
        <p:nvSpPr>
          <p:cNvPr id="27" name="Text 20"/>
          <p:cNvSpPr/>
          <p:nvPr/>
        </p:nvSpPr>
        <p:spPr>
          <a:xfrm>
            <a:off x="5703094" y="3590289"/>
            <a:ext cx="20520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C10 · Medium</a:t>
            </a:r>
            <a:endParaRPr lang="en-US" sz="1200" dirty="0"/>
          </a:p>
        </p:txBody>
      </p:sp>
      <p:sp>
        <p:nvSpPr>
          <p:cNvPr id="28" name="Text 21"/>
          <p:cNvSpPr/>
          <p:nvPr/>
        </p:nvSpPr>
        <p:spPr>
          <a:xfrm>
            <a:off x="5703094" y="3841750"/>
            <a:ext cx="205200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F2A30"/>
                </a:solidFill>
                <a:latin typeface="IBM Plex Sans" pitchFamily="34" charset="0"/>
                <a:ea typeface="IBM Plex Sans" pitchFamily="34" charset="-122"/>
                <a:cs typeface="IBM Plex Sans" pitchFamily="34" charset="-120"/>
              </a:rPr>
              <a:t>Mixed (Built-up and Shrubs)</a:t>
            </a:r>
            <a:endParaRPr lang="en-US" sz="1300" dirty="0"/>
          </a:p>
        </p:txBody>
      </p:sp>
      <p:sp>
        <p:nvSpPr>
          <p:cNvPr id="30" name="Shape 23"/>
          <p:cNvSpPr/>
          <p:nvPr/>
        </p:nvSpPr>
        <p:spPr>
          <a:xfrm>
            <a:off x="7944882" y="3474086"/>
            <a:ext cx="3431143" cy="1311910"/>
          </a:xfrm>
          <a:prstGeom prst="roundRect">
            <a:avLst>
              <a:gd name="adj" fmla="val 5566"/>
            </a:avLst>
          </a:prstGeom>
          <a:solidFill>
            <a:srgbClr val="FDFCF9"/>
          </a:solidFill>
          <a:ln w="6350">
            <a:solidFill>
              <a:srgbClr val="DEDBD2"/>
            </a:solidFill>
            <a:prstDash val="solid"/>
          </a:ln>
        </p:spPr>
      </p:sp>
      <p:pic>
        <p:nvPicPr>
          <p:cNvPr id="31" name="Image 5" descr="Chip of cell C11"/>
          <p:cNvPicPr>
            <a:picLocks noChangeAspect="1"/>
          </p:cNvPicPr>
          <p:nvPr/>
        </p:nvPicPr>
        <p:blipFill>
          <a:blip r:embed="rId8"/>
          <a:srcRect/>
          <a:stretch/>
        </p:blipFill>
        <p:spPr>
          <a:xfrm>
            <a:off x="8061087" y="3590289"/>
            <a:ext cx="1079500" cy="1079500"/>
          </a:xfrm>
          <a:prstGeom prst="roundRect">
            <a:avLst>
              <a:gd name="adj" fmla="val 3529"/>
            </a:avLst>
          </a:prstGeom>
        </p:spPr>
      </p:pic>
      <p:sp>
        <p:nvSpPr>
          <p:cNvPr id="32" name="Text 24"/>
          <p:cNvSpPr/>
          <p:nvPr/>
        </p:nvSpPr>
        <p:spPr>
          <a:xfrm>
            <a:off x="9267587" y="3590289"/>
            <a:ext cx="20520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C11 · Medium</a:t>
            </a:r>
            <a:endParaRPr lang="en-US" sz="1200" dirty="0"/>
          </a:p>
        </p:txBody>
      </p:sp>
      <p:sp>
        <p:nvSpPr>
          <p:cNvPr id="33" name="Text 25"/>
          <p:cNvSpPr/>
          <p:nvPr/>
        </p:nvSpPr>
        <p:spPr>
          <a:xfrm>
            <a:off x="9267587" y="3841750"/>
            <a:ext cx="205200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F2A30"/>
                </a:solidFill>
                <a:latin typeface="IBM Plex Sans" pitchFamily="34" charset="0"/>
                <a:ea typeface="IBM Plex Sans" pitchFamily="34" charset="-122"/>
                <a:cs typeface="IBM Plex Sans" pitchFamily="34" charset="-120"/>
              </a:rPr>
              <a:t>Mixed (Cropland and Shrubs)</a:t>
            </a:r>
            <a:endParaRPr lang="en-US" sz="1300" dirty="0"/>
          </a:p>
        </p:txBody>
      </p:sp>
      <p:sp>
        <p:nvSpPr>
          <p:cNvPr id="35" name="Text 27"/>
          <p:cNvSpPr/>
          <p:nvPr/>
        </p:nvSpPr>
        <p:spPr>
          <a:xfrm>
            <a:off x="812800" y="4966971"/>
            <a:ext cx="10883392"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6525B"/>
                </a:solidFill>
                <a:latin typeface="IBM Plex Sans" pitchFamily="34" charset="0"/>
                <a:ea typeface="IBM Plex Sans" pitchFamily="34" charset="-122"/>
                <a:cs typeface="IBM Plex Sans" pitchFamily="34" charset="-120"/>
              </a:rPr>
              <a:t>High</a:t>
            </a:r>
            <a:r>
              <a:rPr lang="en-US" sz="1200" dirty="0">
                <a:solidFill>
                  <a:srgbClr val="46525B"/>
                </a:solidFill>
                <a:latin typeface="IBM Plex Sans" pitchFamily="34" charset="0"/>
                <a:ea typeface="IBM Plex Sans" pitchFamily="34" charset="-122"/>
                <a:cs typeface="IBM Plex Sans" pitchFamily="34" charset="-120"/>
              </a:rPr>
              <a:t> one class clearly over ~70%, unambiguous · </a:t>
            </a:r>
            <a:r>
              <a:rPr lang="en-US" sz="1200" b="1" dirty="0">
                <a:solidFill>
                  <a:srgbClr val="46525B"/>
                </a:solidFill>
                <a:latin typeface="IBM Plex Sans" pitchFamily="34" charset="0"/>
                <a:ea typeface="IBM Plex Sans" pitchFamily="34" charset="-122"/>
                <a:cs typeface="IBM Plex Sans" pitchFamily="34" charset="-120"/>
              </a:rPr>
              <a:t>Medium</a:t>
            </a:r>
            <a:r>
              <a:rPr lang="en-US" sz="1200" dirty="0">
                <a:solidFill>
                  <a:srgbClr val="46525B"/>
                </a:solidFill>
                <a:latin typeface="IBM Plex Sans" pitchFamily="34" charset="0"/>
                <a:ea typeface="IBM Plex Sans" pitchFamily="34" charset="-122"/>
                <a:cs typeface="IBM Plex Sans" pitchFamily="34" charset="-120"/>
              </a:rPr>
              <a:t> clear main class with a sizeable second, or somewhat ambiguous · </a:t>
            </a:r>
            <a:r>
              <a:rPr lang="en-US" sz="1200" b="1" dirty="0">
                <a:solidFill>
                  <a:srgbClr val="46525B"/>
                </a:solidFill>
                <a:latin typeface="IBM Plex Sans" pitchFamily="34" charset="0"/>
                <a:ea typeface="IBM Plex Sans" pitchFamily="34" charset="-122"/>
                <a:cs typeface="IBM Plex Sans" pitchFamily="34" charset="-120"/>
              </a:rPr>
              <a:t>Low</a:t>
            </a:r>
            <a:r>
              <a:rPr lang="en-US" sz="1200" dirty="0">
                <a:solidFill>
                  <a:srgbClr val="46525B"/>
                </a:solidFill>
                <a:latin typeface="IBM Plex Sans" pitchFamily="34" charset="0"/>
                <a:ea typeface="IBM Plex Sans" pitchFamily="34" charset="-122"/>
                <a:cs typeface="IBM Plex Sans" pitchFamily="34" charset="-120"/>
              </a:rPr>
              <a:t> unsure or genuinely mixed</a:t>
            </a:r>
            <a:endParaRPr lang="en-US" sz="1200" dirty="0"/>
          </a:p>
        </p:txBody>
      </p:sp>
      <p:sp>
        <p:nvSpPr>
          <p:cNvPr id="36" name="Text 28"/>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7C"/>
                </a:solidFill>
                <a:latin typeface="IBM Plex Sans" pitchFamily="34" charset="0"/>
                <a:ea typeface="IBM Plex Sans" pitchFamily="34" charset="-122"/>
                <a:cs typeface="IBM Plex Sans" pitchFamily="34" charset="-120"/>
              </a:rPr>
              <a:t>Kashyapi Dam land cover · 2019</a:t>
            </a:r>
            <a:endParaRPr lang="en-US" sz="1200" dirty="0"/>
          </a:p>
        </p:txBody>
      </p:sp>
      <p:sp>
        <p:nvSpPr>
          <p:cNvPr id="37" name="Text 29"/>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METHOD</a:t>
            </a:r>
            <a:endParaRPr lang="en-US" sz="1200" dirty="0"/>
          </a:p>
        </p:txBody>
      </p:sp>
      <p:sp>
        <p:nvSpPr>
          <p:cNvPr id="3" name="Text 1"/>
          <p:cNvSpPr>
            <a:spLocks noGrp="1"/>
          </p:cNvSpPr>
          <p:nvPr>
            <p:ph type="title"/>
          </p:nvPr>
        </p:nvSpPr>
        <p:spPr>
          <a:xfrm>
            <a:off x="812800" y="10007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A random forest on two seasons</a:t>
            </a:r>
            <a:endParaRPr lang="en-US" sz="3000" dirty="0"/>
          </a:p>
        </p:txBody>
      </p:sp>
      <p:sp>
        <p:nvSpPr>
          <p:cNvPr id="4" name="Shape 2"/>
          <p:cNvSpPr/>
          <p:nvPr/>
        </p:nvSpPr>
        <p:spPr>
          <a:xfrm>
            <a:off x="815975" y="1748157"/>
            <a:ext cx="2254250" cy="920750"/>
          </a:xfrm>
          <a:prstGeom prst="roundRect">
            <a:avLst>
              <a:gd name="adj" fmla="val 7931"/>
            </a:avLst>
          </a:prstGeom>
          <a:solidFill>
            <a:srgbClr val="FDFCF9"/>
          </a:solidFill>
          <a:ln w="6350">
            <a:solidFill>
              <a:srgbClr val="DEDBD2"/>
            </a:solidFill>
            <a:prstDash val="solid"/>
          </a:ln>
        </p:spPr>
      </p:sp>
      <p:sp>
        <p:nvSpPr>
          <p:cNvPr id="5" name="Text 3"/>
          <p:cNvSpPr/>
          <p:nvPr/>
        </p:nvSpPr>
        <p:spPr>
          <a:xfrm>
            <a:off x="957580" y="1877061"/>
            <a:ext cx="203017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A30"/>
                </a:solidFill>
                <a:latin typeface="IBM Plex Sans" pitchFamily="34" charset="0"/>
                <a:ea typeface="IBM Plex Sans" pitchFamily="34" charset="-122"/>
                <a:cs typeface="IBM Plex Sans" pitchFamily="34" charset="-120"/>
              </a:rPr>
              <a:t>Two composites</a:t>
            </a:r>
            <a:endParaRPr lang="en-US" sz="1400" dirty="0"/>
          </a:p>
        </p:txBody>
      </p:sp>
      <p:sp>
        <p:nvSpPr>
          <p:cNvPr id="6" name="Text 4"/>
          <p:cNvSpPr/>
          <p:nvPr/>
        </p:nvSpPr>
        <p:spPr>
          <a:xfrm>
            <a:off x="957580" y="2128521"/>
            <a:ext cx="203017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25B"/>
                </a:solidFill>
                <a:latin typeface="IBM Plex Sans" pitchFamily="34" charset="0"/>
                <a:ea typeface="IBM Plex Sans" pitchFamily="34" charset="-122"/>
                <a:cs typeface="IBM Plex Sans" pitchFamily="34" charset="-120"/>
              </a:rPr>
              <a:t>Oct–Dec and Feb–Mar medians, 6 bands each</a:t>
            </a:r>
            <a:endParaRPr lang="en-US" sz="1200" dirty="0"/>
          </a:p>
        </p:txBody>
      </p:sp>
      <p:pic>
        <p:nvPicPr>
          <p:cNvPr id="7" name="Image 0" descr="arrow-right"/>
          <p:cNvPicPr>
            <a:picLocks noChangeAspect="1"/>
          </p:cNvPicPr>
          <p:nvPr/>
        </p:nvPicPr>
        <p:blipFill>
          <a:blip r:embed="rId3"/>
          <a:srcRect/>
          <a:stretch/>
        </p:blipFill>
        <p:spPr>
          <a:xfrm>
            <a:off x="3175000" y="2119632"/>
            <a:ext cx="304800" cy="177800"/>
          </a:xfrm>
          <a:prstGeom prst="rect">
            <a:avLst/>
          </a:prstGeom>
        </p:spPr>
      </p:pic>
      <p:sp>
        <p:nvSpPr>
          <p:cNvPr id="8" name="Shape 5"/>
          <p:cNvSpPr/>
          <p:nvPr/>
        </p:nvSpPr>
        <p:spPr>
          <a:xfrm>
            <a:off x="3584575" y="1645286"/>
            <a:ext cx="2254250" cy="1126490"/>
          </a:xfrm>
          <a:prstGeom prst="roundRect">
            <a:avLst>
              <a:gd name="adj" fmla="val 6483"/>
            </a:avLst>
          </a:prstGeom>
          <a:solidFill>
            <a:srgbClr val="FDFCF9"/>
          </a:solidFill>
          <a:ln w="6350">
            <a:solidFill>
              <a:srgbClr val="DEDBD2"/>
            </a:solidFill>
            <a:prstDash val="solid"/>
          </a:ln>
        </p:spPr>
      </p:sp>
      <p:sp>
        <p:nvSpPr>
          <p:cNvPr id="9" name="Text 6"/>
          <p:cNvSpPr/>
          <p:nvPr/>
        </p:nvSpPr>
        <p:spPr>
          <a:xfrm>
            <a:off x="3726180" y="1774189"/>
            <a:ext cx="203017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A30"/>
                </a:solidFill>
                <a:latin typeface="IBM Plex Sans" pitchFamily="34" charset="0"/>
                <a:ea typeface="IBM Plex Sans" pitchFamily="34" charset="-122"/>
                <a:cs typeface="IBM Plex Sans" pitchFamily="34" charset="-120"/>
              </a:rPr>
              <a:t>19 features</a:t>
            </a:r>
            <a:endParaRPr lang="en-US" sz="1400" dirty="0"/>
          </a:p>
        </p:txBody>
      </p:sp>
      <p:sp>
        <p:nvSpPr>
          <p:cNvPr id="10" name="Text 7"/>
          <p:cNvSpPr/>
          <p:nvPr/>
        </p:nvSpPr>
        <p:spPr>
          <a:xfrm>
            <a:off x="3726180" y="2025650"/>
            <a:ext cx="203017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25B"/>
                </a:solidFill>
                <a:latin typeface="IBM Plex Sans" pitchFamily="34" charset="0"/>
                <a:ea typeface="IBM Plex Sans" pitchFamily="34" charset="-122"/>
                <a:cs typeface="IBM Plex Sans" pitchFamily="34" charset="-120"/>
              </a:rPr>
              <a:t>Bands + NDVI, NDBI, MNDWI per season, + NDVI change</a:t>
            </a:r>
            <a:endParaRPr lang="en-US" sz="1200" dirty="0"/>
          </a:p>
        </p:txBody>
      </p:sp>
      <p:pic>
        <p:nvPicPr>
          <p:cNvPr id="11" name="Image 1" descr="arrow-right"/>
          <p:cNvPicPr>
            <a:picLocks noChangeAspect="1"/>
          </p:cNvPicPr>
          <p:nvPr/>
        </p:nvPicPr>
        <p:blipFill>
          <a:blip r:embed="rId3"/>
          <a:srcRect/>
          <a:stretch/>
        </p:blipFill>
        <p:spPr>
          <a:xfrm>
            <a:off x="5943600" y="2119632"/>
            <a:ext cx="304800" cy="177800"/>
          </a:xfrm>
          <a:prstGeom prst="rect">
            <a:avLst/>
          </a:prstGeom>
        </p:spPr>
      </p:pic>
      <p:sp>
        <p:nvSpPr>
          <p:cNvPr id="12" name="Shape 8"/>
          <p:cNvSpPr/>
          <p:nvPr/>
        </p:nvSpPr>
        <p:spPr>
          <a:xfrm>
            <a:off x="6353175" y="1748157"/>
            <a:ext cx="2254250" cy="920750"/>
          </a:xfrm>
          <a:prstGeom prst="roundRect">
            <a:avLst>
              <a:gd name="adj" fmla="val 7931"/>
            </a:avLst>
          </a:prstGeom>
          <a:solidFill>
            <a:srgbClr val="FDFCF9"/>
          </a:solidFill>
          <a:ln w="6350">
            <a:solidFill>
              <a:srgbClr val="DEDBD2"/>
            </a:solidFill>
            <a:prstDash val="solid"/>
          </a:ln>
        </p:spPr>
      </p:sp>
      <p:sp>
        <p:nvSpPr>
          <p:cNvPr id="13" name="Text 9"/>
          <p:cNvSpPr/>
          <p:nvPr/>
        </p:nvSpPr>
        <p:spPr>
          <a:xfrm>
            <a:off x="6494780" y="1877061"/>
            <a:ext cx="203017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A30"/>
                </a:solidFill>
                <a:latin typeface="IBM Plex Sans" pitchFamily="34" charset="0"/>
                <a:ea typeface="IBM Plex Sans" pitchFamily="34" charset="-122"/>
                <a:cs typeface="IBM Plex Sans" pitchFamily="34" charset="-120"/>
              </a:rPr>
              <a:t>Random forest</a:t>
            </a:r>
            <a:endParaRPr lang="en-US" sz="1400" dirty="0"/>
          </a:p>
        </p:txBody>
      </p:sp>
      <p:sp>
        <p:nvSpPr>
          <p:cNvPr id="14" name="Text 10"/>
          <p:cNvSpPr/>
          <p:nvPr/>
        </p:nvSpPr>
        <p:spPr>
          <a:xfrm>
            <a:off x="6494780" y="2128521"/>
            <a:ext cx="203017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25B"/>
                </a:solidFill>
                <a:latin typeface="IBM Plex Sans" pitchFamily="34" charset="0"/>
                <a:ea typeface="IBM Plex Sans" pitchFamily="34" charset="-122"/>
                <a:cs typeface="IBM Plex Sans" pitchFamily="34" charset="-120"/>
              </a:rPr>
              <a:t>300 trees, balanced weights, seed 2019</a:t>
            </a:r>
            <a:endParaRPr lang="en-US" sz="1200" dirty="0"/>
          </a:p>
        </p:txBody>
      </p:sp>
      <p:pic>
        <p:nvPicPr>
          <p:cNvPr id="15" name="Image 2" descr="arrow-right"/>
          <p:cNvPicPr>
            <a:picLocks noChangeAspect="1"/>
          </p:cNvPicPr>
          <p:nvPr/>
        </p:nvPicPr>
        <p:blipFill>
          <a:blip r:embed="rId3"/>
          <a:srcRect/>
          <a:stretch/>
        </p:blipFill>
        <p:spPr>
          <a:xfrm>
            <a:off x="8712200" y="2119632"/>
            <a:ext cx="304800" cy="177800"/>
          </a:xfrm>
          <a:prstGeom prst="rect">
            <a:avLst/>
          </a:prstGeom>
        </p:spPr>
      </p:pic>
      <p:sp>
        <p:nvSpPr>
          <p:cNvPr id="16" name="Shape 11"/>
          <p:cNvSpPr/>
          <p:nvPr/>
        </p:nvSpPr>
        <p:spPr>
          <a:xfrm>
            <a:off x="9121775" y="1748157"/>
            <a:ext cx="2254250" cy="920750"/>
          </a:xfrm>
          <a:prstGeom prst="roundRect">
            <a:avLst>
              <a:gd name="adj" fmla="val 7931"/>
            </a:avLst>
          </a:prstGeom>
          <a:solidFill>
            <a:srgbClr val="FDFCF9"/>
          </a:solidFill>
          <a:ln w="6350">
            <a:solidFill>
              <a:srgbClr val="DEDBD2"/>
            </a:solidFill>
            <a:prstDash val="solid"/>
          </a:ln>
        </p:spPr>
      </p:sp>
      <p:sp>
        <p:nvSpPr>
          <p:cNvPr id="17" name="Text 12"/>
          <p:cNvSpPr/>
          <p:nvPr/>
        </p:nvSpPr>
        <p:spPr>
          <a:xfrm>
            <a:off x="9263380" y="1877061"/>
            <a:ext cx="203017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A30"/>
                </a:solidFill>
                <a:latin typeface="IBM Plex Sans" pitchFamily="34" charset="0"/>
                <a:ea typeface="IBM Plex Sans" pitchFamily="34" charset="-122"/>
                <a:cs typeface="IBM Plex Sans" pitchFamily="34" charset="-120"/>
              </a:rPr>
              <a:t>Cell label</a:t>
            </a:r>
            <a:endParaRPr lang="en-US" sz="1400" dirty="0"/>
          </a:p>
        </p:txBody>
      </p:sp>
      <p:sp>
        <p:nvSpPr>
          <p:cNvPr id="18" name="Text 13"/>
          <p:cNvSpPr/>
          <p:nvPr/>
        </p:nvSpPr>
        <p:spPr>
          <a:xfrm>
            <a:off x="9263380" y="2128521"/>
            <a:ext cx="203017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25B"/>
                </a:solidFill>
                <a:latin typeface="IBM Plex Sans" pitchFamily="34" charset="0"/>
                <a:ea typeface="IBM Plex Sans" pitchFamily="34" charset="-122"/>
                <a:cs typeface="IBM Plex Sans" pitchFamily="34" charset="-120"/>
              </a:rPr>
              <a:t>Pixel class → cell shares → over-50% rule</a:t>
            </a:r>
            <a:endParaRPr lang="en-US" sz="1200" dirty="0"/>
          </a:p>
        </p:txBody>
      </p:sp>
      <p:sp>
        <p:nvSpPr>
          <p:cNvPr id="19" name="Shape 14"/>
          <p:cNvSpPr/>
          <p:nvPr/>
        </p:nvSpPr>
        <p:spPr>
          <a:xfrm>
            <a:off x="812800" y="2978150"/>
            <a:ext cx="10566400" cy="2730500"/>
          </a:xfrm>
          <a:prstGeom prst="roundRect">
            <a:avLst>
              <a:gd name="adj" fmla="val 1860"/>
            </a:avLst>
          </a:prstGeom>
          <a:solidFill>
            <a:srgbClr val="FDFCF9"/>
          </a:solidFill>
          <a:ln/>
        </p:spPr>
      </p:sp>
      <p:pic>
        <p:nvPicPr>
          <p:cNvPr id="20" name="Image 3" descr="Oct–Dec RGB composite beside the random-forest class map with each cell's label"/>
          <p:cNvPicPr>
            <a:picLocks noChangeAspect="1"/>
          </p:cNvPicPr>
          <p:nvPr/>
        </p:nvPicPr>
        <p:blipFill>
          <a:blip r:embed="rId4"/>
          <a:stretch>
            <a:fillRect/>
          </a:stretch>
        </p:blipFill>
        <p:spPr>
          <a:xfrm>
            <a:off x="2351661" y="2978150"/>
            <a:ext cx="7488679" cy="2730500"/>
          </a:xfrm>
          <a:prstGeom prst="rect">
            <a:avLst/>
          </a:prstGeom>
        </p:spPr>
      </p:pic>
      <p:sp>
        <p:nvSpPr>
          <p:cNvPr id="22" name="Text 1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TRAINING DATA</a:t>
            </a:r>
            <a:endParaRPr lang="en-US" sz="1200" dirty="0"/>
          </a:p>
        </p:txBody>
      </p:sp>
      <p:sp>
        <p:nvSpPr>
          <p:cNvPr id="3" name="Text 1"/>
          <p:cNvSpPr>
            <a:spLocks noGrp="1"/>
          </p:cNvSpPr>
          <p:nvPr>
            <p:ph type="title"/>
          </p:nvPr>
        </p:nvSpPr>
        <p:spPr>
          <a:xfrm>
            <a:off x="812800" y="10007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Trained outside the grid, never on comparators</a:t>
            </a:r>
            <a:endParaRPr lang="en-US" sz="3000" dirty="0"/>
          </a:p>
        </p:txBody>
      </p:sp>
      <p:pic>
        <p:nvPicPr>
          <p:cNvPr id="4" name="Image 0" descr="Training area map: 120 small class-coloured squares around the study grid within a 2 km buffer; none inside the grid"/>
          <p:cNvPicPr>
            <a:picLocks noChangeAspect="1"/>
          </p:cNvPicPr>
          <p:nvPr/>
        </p:nvPicPr>
        <p:blipFill>
          <a:blip r:embed="rId3"/>
          <a:srcRect t="-32" b="-32"/>
          <a:stretch/>
        </p:blipFill>
        <p:spPr>
          <a:xfrm>
            <a:off x="812800" y="1667511"/>
            <a:ext cx="4318000" cy="3975100"/>
          </a:xfrm>
          <a:prstGeom prst="roundRect">
            <a:avLst>
              <a:gd name="adj" fmla="val 1278"/>
            </a:avLst>
          </a:prstGeom>
        </p:spPr>
      </p:pic>
      <p:sp>
        <p:nvSpPr>
          <p:cNvPr id="5" name="Shape 2"/>
          <p:cNvSpPr/>
          <p:nvPr/>
        </p:nvSpPr>
        <p:spPr>
          <a:xfrm>
            <a:off x="5489575" y="1670686"/>
            <a:ext cx="1873250" cy="862330"/>
          </a:xfrm>
          <a:prstGeom prst="roundRect">
            <a:avLst>
              <a:gd name="adj" fmla="val 8468"/>
            </a:avLst>
          </a:prstGeom>
          <a:solidFill>
            <a:srgbClr val="FDFCF9"/>
          </a:solidFill>
          <a:ln w="6350">
            <a:solidFill>
              <a:srgbClr val="DEDBD2"/>
            </a:solidFill>
            <a:prstDash val="solid"/>
          </a:ln>
        </p:spPr>
      </p:sp>
      <p:sp>
        <p:nvSpPr>
          <p:cNvPr id="6" name="Text 3"/>
          <p:cNvSpPr/>
          <p:nvPr/>
        </p:nvSpPr>
        <p:spPr>
          <a:xfrm>
            <a:off x="5631180" y="1786889"/>
            <a:ext cx="1640840"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B5A8C"/>
                </a:solidFill>
                <a:latin typeface="Source Serif 4" pitchFamily="18" charset="0"/>
                <a:ea typeface="Source Serif 4" pitchFamily="18" charset="-122"/>
                <a:cs typeface="Source Serif 4" pitchFamily="18" charset="-120"/>
              </a:rPr>
              <a:t>120</a:t>
            </a:r>
            <a:endParaRPr lang="en-US" sz="2800" dirty="0"/>
          </a:p>
        </p:txBody>
      </p:sp>
      <p:sp>
        <p:nvSpPr>
          <p:cNvPr id="7" name="Text 4"/>
          <p:cNvSpPr/>
          <p:nvPr/>
        </p:nvSpPr>
        <p:spPr>
          <a:xfrm>
            <a:off x="5631180" y="2203450"/>
            <a:ext cx="1640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polygons, 20 per class</a:t>
            </a:r>
            <a:endParaRPr lang="en-US" sz="1200" dirty="0"/>
          </a:p>
        </p:txBody>
      </p:sp>
      <p:sp>
        <p:nvSpPr>
          <p:cNvPr id="8" name="Shape 5"/>
          <p:cNvSpPr/>
          <p:nvPr/>
        </p:nvSpPr>
        <p:spPr>
          <a:xfrm>
            <a:off x="7496175" y="1670686"/>
            <a:ext cx="1873250" cy="862330"/>
          </a:xfrm>
          <a:prstGeom prst="roundRect">
            <a:avLst>
              <a:gd name="adj" fmla="val 8468"/>
            </a:avLst>
          </a:prstGeom>
          <a:solidFill>
            <a:srgbClr val="FDFCF9"/>
          </a:solidFill>
          <a:ln w="6350">
            <a:solidFill>
              <a:srgbClr val="DEDBD2"/>
            </a:solidFill>
            <a:prstDash val="solid"/>
          </a:ln>
        </p:spPr>
      </p:sp>
      <p:sp>
        <p:nvSpPr>
          <p:cNvPr id="9" name="Text 6"/>
          <p:cNvSpPr/>
          <p:nvPr/>
        </p:nvSpPr>
        <p:spPr>
          <a:xfrm>
            <a:off x="7637780" y="1786889"/>
            <a:ext cx="1640840"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B5A8C"/>
                </a:solidFill>
                <a:latin typeface="Source Serif 4" pitchFamily="18" charset="0"/>
                <a:ea typeface="Source Serif 4" pitchFamily="18" charset="-122"/>
                <a:cs typeface="Source Serif 4" pitchFamily="18" charset="-120"/>
              </a:rPr>
              <a:t>1,750</a:t>
            </a:r>
            <a:endParaRPr lang="en-US" sz="2800" dirty="0"/>
          </a:p>
        </p:txBody>
      </p:sp>
      <p:sp>
        <p:nvSpPr>
          <p:cNvPr id="10" name="Text 7"/>
          <p:cNvSpPr/>
          <p:nvPr/>
        </p:nvSpPr>
        <p:spPr>
          <a:xfrm>
            <a:off x="7637780" y="2203450"/>
            <a:ext cx="1640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training pixels</a:t>
            </a:r>
            <a:endParaRPr lang="en-US" sz="1200" dirty="0"/>
          </a:p>
        </p:txBody>
      </p:sp>
      <p:sp>
        <p:nvSpPr>
          <p:cNvPr id="11" name="Shape 8"/>
          <p:cNvSpPr/>
          <p:nvPr/>
        </p:nvSpPr>
        <p:spPr>
          <a:xfrm>
            <a:off x="9502775" y="1670686"/>
            <a:ext cx="1873250" cy="862330"/>
          </a:xfrm>
          <a:prstGeom prst="roundRect">
            <a:avLst>
              <a:gd name="adj" fmla="val 8468"/>
            </a:avLst>
          </a:prstGeom>
          <a:solidFill>
            <a:srgbClr val="FDFCF9"/>
          </a:solidFill>
          <a:ln w="6350">
            <a:solidFill>
              <a:srgbClr val="DEDBD2"/>
            </a:solidFill>
            <a:prstDash val="solid"/>
          </a:ln>
        </p:spPr>
      </p:sp>
      <p:sp>
        <p:nvSpPr>
          <p:cNvPr id="12" name="Text 9"/>
          <p:cNvSpPr/>
          <p:nvPr/>
        </p:nvSpPr>
        <p:spPr>
          <a:xfrm>
            <a:off x="9644380" y="1786889"/>
            <a:ext cx="1640840"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B5A8C"/>
                </a:solidFill>
                <a:latin typeface="Source Serif 4" pitchFamily="18" charset="0"/>
                <a:ea typeface="Source Serif 4" pitchFamily="18" charset="-122"/>
                <a:cs typeface="Source Serif 4" pitchFamily="18" charset="-120"/>
              </a:rPr>
              <a:t>0</a:t>
            </a:r>
            <a:endParaRPr lang="en-US" sz="2800" dirty="0"/>
          </a:p>
        </p:txBody>
      </p:sp>
      <p:sp>
        <p:nvSpPr>
          <p:cNvPr id="13" name="Text 10"/>
          <p:cNvSpPr/>
          <p:nvPr/>
        </p:nvSpPr>
        <p:spPr>
          <a:xfrm>
            <a:off x="9644380" y="2203450"/>
            <a:ext cx="1640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pixels inside the grid</a:t>
            </a:r>
            <a:endParaRPr lang="en-US" sz="1200" dirty="0"/>
          </a:p>
        </p:txBody>
      </p:sp>
      <p:sp>
        <p:nvSpPr>
          <p:cNvPr id="14" name="Text 11"/>
          <p:cNvSpPr/>
          <p:nvPr/>
        </p:nvSpPr>
        <p:spPr>
          <a:xfrm>
            <a:off x="5571744" y="2701289"/>
            <a:ext cx="5976620" cy="2134949"/>
          </a:xfrm>
          <a:prstGeom prst="rect">
            <a:avLst/>
          </a:prstGeom>
          <a:noFill/>
          <a:ln/>
        </p:spPr>
        <p:txBody>
          <a:bodyPr wrap="square" lIns="0" tIns="0" rIns="0" bIns="0" rtlCol="0" anchor="t">
            <a:normAutofit/>
          </a:bodyPr>
          <a:lstStyle/>
          <a:p>
            <a:pPr marL="168656" indent="-168656" algn="l">
              <a:lnSpc>
                <a:spcPts val="1846"/>
              </a:lnSpc>
              <a:buSzPct val="100000"/>
              <a:buChar char="•"/>
            </a:pPr>
            <a:r>
              <a:rPr lang="en-US" sz="1300" dirty="0">
                <a:solidFill>
                  <a:srgbClr val="46525B"/>
                </a:solidFill>
                <a:latin typeface="IBM Plex Sans" pitchFamily="34" charset="0"/>
                <a:ea typeface="IBM Plex Sans" pitchFamily="34" charset="-122"/>
                <a:cs typeface="IBM Plex Sans" pitchFamily="34" charset="-120"/>
              </a:rPr>
              <a:t>Within a 2 km buffer and at least 100 m outside the grid; 4–25 pixels per square</a:t>
            </a:r>
            <a:endParaRPr lang="en-US" sz="1300" dirty="0"/>
          </a:p>
          <a:p>
            <a:pPr marL="168656" indent="-168656" algn="l">
              <a:lnSpc>
                <a:spcPts val="1846"/>
              </a:lnSpc>
              <a:buSzPct val="100000"/>
              <a:buChar char="•"/>
            </a:pPr>
            <a:r>
              <a:rPr lang="en-US" sz="1300" dirty="0">
                <a:solidFill>
                  <a:srgbClr val="46525B"/>
                </a:solidFill>
                <a:latin typeface="IBM Plex Sans" pitchFamily="34" charset="0"/>
                <a:ea typeface="IBM Plex Sans" pitchFamily="34" charset="-122"/>
                <a:cs typeface="IBM Plex Sans" pitchFamily="34" charset="-120"/>
              </a:rPr>
              <a:t>Pixels per class: Shrubs, Herbaceous, Cropland 320 each · Built-up 110 · Bare 180 · Water 500</a:t>
            </a:r>
            <a:endParaRPr lang="en-US" sz="1300" dirty="0"/>
          </a:p>
          <a:p>
            <a:pPr marL="168656" indent="-168656" algn="l">
              <a:lnSpc>
                <a:spcPts val="1846"/>
              </a:lnSpc>
              <a:buSzPct val="100000"/>
              <a:buChar char="•"/>
            </a:pPr>
            <a:r>
              <a:rPr lang="en-US" sz="1300" dirty="0">
                <a:solidFill>
                  <a:srgbClr val="46525B"/>
                </a:solidFill>
                <a:latin typeface="IBM Plex Sans" pitchFamily="34" charset="0"/>
                <a:ea typeface="IBM Plex Sans" pitchFamily="34" charset="-122"/>
                <a:cs typeface="IBM Plex Sans" pitchFamily="34" charset="-120"/>
              </a:rPr>
              <a:t>Comparators opened only after RF labels were saved; no pretrained model, so no training overlap to disclose</a:t>
            </a:r>
            <a:endParaRPr lang="en-US" sz="1300" dirty="0"/>
          </a:p>
        </p:txBody>
      </p:sp>
      <p:sp>
        <p:nvSpPr>
          <p:cNvPr id="16" name="Text 1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INTERNAL CHECK</a:t>
            </a:r>
            <a:endParaRPr lang="en-US" sz="1200" dirty="0"/>
          </a:p>
        </p:txBody>
      </p:sp>
      <p:sp>
        <p:nvSpPr>
          <p:cNvPr id="3" name="Text 1"/>
          <p:cNvSpPr>
            <a:spLocks noGrp="1"/>
          </p:cNvSpPr>
          <p:nvPr>
            <p:ph type="title"/>
          </p:nvPr>
        </p:nvSpPr>
        <p:spPr>
          <a:xfrm>
            <a:off x="812800" y="10007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92% on held-out polygons, an optimistic number</a:t>
            </a:r>
            <a:endParaRPr lang="en-US" sz="3000" dirty="0"/>
          </a:p>
        </p:txBody>
      </p:sp>
      <p:pic>
        <p:nvPicPr>
          <p:cNvPr id="4" name="Image 0" descr="Grouped cross-validation confusion matrix: water 500 of 500, shrubs 299 of 320, herbaceous 297 of 320, cropland 266 of 320, built-up 97 of 110, bare 151 of 180"/>
          <p:cNvPicPr>
            <a:picLocks noChangeAspect="1"/>
          </p:cNvPicPr>
          <p:nvPr/>
        </p:nvPicPr>
        <p:blipFill>
          <a:blip r:embed="rId3"/>
          <a:srcRect t="-38" b="-38"/>
          <a:stretch/>
        </p:blipFill>
        <p:spPr>
          <a:xfrm>
            <a:off x="812800" y="1642114"/>
            <a:ext cx="4699000" cy="3937000"/>
          </a:xfrm>
          <a:prstGeom prst="rect">
            <a:avLst/>
          </a:prstGeom>
        </p:spPr>
      </p:pic>
      <p:sp>
        <p:nvSpPr>
          <p:cNvPr id="5" name="Shape 2"/>
          <p:cNvSpPr/>
          <p:nvPr/>
        </p:nvSpPr>
        <p:spPr>
          <a:xfrm>
            <a:off x="5819775" y="1645289"/>
            <a:ext cx="2711450" cy="991870"/>
          </a:xfrm>
          <a:prstGeom prst="roundRect">
            <a:avLst>
              <a:gd name="adj" fmla="val 7362"/>
            </a:avLst>
          </a:prstGeom>
          <a:solidFill>
            <a:srgbClr val="FDFCF9"/>
          </a:solidFill>
          <a:ln w="6350">
            <a:solidFill>
              <a:srgbClr val="DEDBD2"/>
            </a:solidFill>
            <a:prstDash val="solid"/>
          </a:ln>
        </p:spPr>
      </p:sp>
      <p:sp>
        <p:nvSpPr>
          <p:cNvPr id="6" name="Text 3"/>
          <p:cNvSpPr/>
          <p:nvPr/>
        </p:nvSpPr>
        <p:spPr>
          <a:xfrm>
            <a:off x="5961380" y="1761492"/>
            <a:ext cx="2501087" cy="332740"/>
          </a:xfrm>
          <a:prstGeom prst="rect">
            <a:avLst/>
          </a:prstGeom>
          <a:noFill/>
          <a:ln/>
        </p:spPr>
        <p:txBody>
          <a:bodyPr wrap="none" lIns="0" tIns="0" rIns="0" bIns="0" rtlCol="0" anchor="t">
            <a:normAutofit/>
          </a:bodyPr>
          <a:lstStyle/>
          <a:p>
            <a:pPr marL="0" indent="0" algn="l">
              <a:lnSpc>
                <a:spcPts val="2420"/>
              </a:lnSpc>
              <a:buNone/>
            </a:pPr>
            <a:r>
              <a:rPr lang="en-US" sz="2200" b="1" dirty="0">
                <a:solidFill>
                  <a:srgbClr val="0B5A8C"/>
                </a:solidFill>
                <a:latin typeface="Source Serif 4" pitchFamily="18" charset="0"/>
                <a:ea typeface="Source Serif 4" pitchFamily="18" charset="-122"/>
                <a:cs typeface="Source Serif 4" pitchFamily="18" charset="-120"/>
              </a:rPr>
              <a:t>1,610 / 1,750</a:t>
            </a:r>
            <a:endParaRPr lang="en-US" sz="2200" dirty="0"/>
          </a:p>
        </p:txBody>
      </p:sp>
      <p:sp>
        <p:nvSpPr>
          <p:cNvPr id="7" name="Text 4"/>
          <p:cNvSpPr/>
          <p:nvPr/>
        </p:nvSpPr>
        <p:spPr>
          <a:xfrm>
            <a:off x="5961380" y="2094229"/>
            <a:ext cx="2501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grouped 5-fold CV, whole polygons held out (92.0%)</a:t>
            </a:r>
            <a:endParaRPr lang="en-US" sz="1200" dirty="0"/>
          </a:p>
        </p:txBody>
      </p:sp>
      <p:sp>
        <p:nvSpPr>
          <p:cNvPr id="8" name="Shape 5"/>
          <p:cNvSpPr/>
          <p:nvPr/>
        </p:nvSpPr>
        <p:spPr>
          <a:xfrm>
            <a:off x="8664575" y="1645289"/>
            <a:ext cx="2711450" cy="991870"/>
          </a:xfrm>
          <a:prstGeom prst="roundRect">
            <a:avLst>
              <a:gd name="adj" fmla="val 7362"/>
            </a:avLst>
          </a:prstGeom>
          <a:solidFill>
            <a:srgbClr val="FDFCF9"/>
          </a:solidFill>
          <a:ln w="6350">
            <a:solidFill>
              <a:srgbClr val="DEDBD2"/>
            </a:solidFill>
            <a:prstDash val="solid"/>
          </a:ln>
        </p:spPr>
      </p:sp>
      <p:sp>
        <p:nvSpPr>
          <p:cNvPr id="9" name="Text 6"/>
          <p:cNvSpPr/>
          <p:nvPr/>
        </p:nvSpPr>
        <p:spPr>
          <a:xfrm>
            <a:off x="8806180" y="1761492"/>
            <a:ext cx="2501087"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46525B"/>
                </a:solidFill>
                <a:latin typeface="Source Serif 4" pitchFamily="18" charset="0"/>
                <a:ea typeface="Source Serif 4" pitchFamily="18" charset="-122"/>
                <a:cs typeface="Source Serif 4" pitchFamily="18" charset="-120"/>
              </a:rPr>
              <a:t>98.2%</a:t>
            </a:r>
            <a:endParaRPr lang="en-US" sz="2200" dirty="0"/>
          </a:p>
        </p:txBody>
      </p:sp>
      <p:sp>
        <p:nvSpPr>
          <p:cNvPr id="10" name="Text 7"/>
          <p:cNvSpPr/>
          <p:nvPr/>
        </p:nvSpPr>
        <p:spPr>
          <a:xfrm>
            <a:off x="8806180" y="2094229"/>
            <a:ext cx="2501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out-of-bag score (pixels held out, more optimistic)</a:t>
            </a:r>
            <a:endParaRPr lang="en-US" sz="1200" dirty="0"/>
          </a:p>
        </p:txBody>
      </p:sp>
      <p:sp>
        <p:nvSpPr>
          <p:cNvPr id="11" name="Text 8"/>
          <p:cNvSpPr/>
          <p:nvPr/>
        </p:nvSpPr>
        <p:spPr>
          <a:xfrm>
            <a:off x="5816600" y="2780029"/>
            <a:ext cx="5562600" cy="931783"/>
          </a:xfrm>
          <a:prstGeom prst="roundRect">
            <a:avLst>
              <a:gd name="adj" fmla="val 6815"/>
            </a:avLst>
          </a:prstGeom>
          <a:solidFill>
            <a:srgbClr val="F6E7DC"/>
          </a:solidFill>
          <a:ln/>
        </p:spPr>
        <p:txBody>
          <a:bodyPr wrap="square" lIns="121101" tIns="95701" rIns="0" bIns="70301" rtlCol="0" anchor="t">
            <a:normAutofit/>
          </a:bodyPr>
          <a:lstStyle/>
          <a:p>
            <a:pPr marL="0" indent="0" algn="l">
              <a:lnSpc>
                <a:spcPts val="1846"/>
              </a:lnSpc>
              <a:buNone/>
            </a:pPr>
            <a:r>
              <a:rPr lang="en-US" sz="1300" b="1" dirty="0">
                <a:solidFill>
                  <a:srgbClr val="1F2A30"/>
                </a:solidFill>
                <a:latin typeface="IBM Plex Sans" pitchFamily="34" charset="0"/>
                <a:ea typeface="IBM Plex Sans" pitchFamily="34" charset="-122"/>
                <a:cs typeface="IBM Plex Sans" pitchFamily="34" charset="-120"/>
              </a:rPr>
              <a:t>Agreement with my polygons, not map accuracy.</a:t>
            </a:r>
            <a:r>
              <a:rPr lang="en-US" sz="1300" dirty="0">
                <a:solidFill>
                  <a:srgbClr val="1F2A30"/>
                </a:solidFill>
                <a:latin typeface="IBM Plex Sans" pitchFamily="34" charset="0"/>
                <a:ea typeface="IBM Plex Sans" pitchFamily="34" charset="-122"/>
                <a:cs typeface="IBM Plex Sans" pitchFamily="34" charset="-120"/>
              </a:rPr>
              <a:t> Squares are uniform and made by the same rules, unlike mixed 500 m cells. Weakest class: Cropland, 266 / 320.</a:t>
            </a:r>
            <a:endParaRPr lang="en-US" sz="1300" dirty="0"/>
          </a:p>
        </p:txBody>
      </p:sp>
      <p:pic>
        <p:nvPicPr>
          <p:cNvPr id="12" name="Image 1" descr="Top-10 feature importance: NDVI Oct–Dec 0.151, Blue Oct–Dec 0.105, NDVI change 0.095, MNDWI Oct–Dec 0.079"/>
          <p:cNvPicPr>
            <a:picLocks noChangeAspect="1"/>
          </p:cNvPicPr>
          <p:nvPr/>
        </p:nvPicPr>
        <p:blipFill>
          <a:blip r:embed="rId4"/>
          <a:srcRect t="-90" b="-90"/>
          <a:stretch/>
        </p:blipFill>
        <p:spPr>
          <a:xfrm>
            <a:off x="5816600" y="3851517"/>
            <a:ext cx="2286000" cy="1651000"/>
          </a:xfrm>
          <a:prstGeom prst="rect">
            <a:avLst/>
          </a:prstGeom>
        </p:spPr>
      </p:pic>
      <p:sp>
        <p:nvSpPr>
          <p:cNvPr id="14" name="Text 1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COMPARATORS</a:t>
            </a:r>
            <a:endParaRPr lang="en-US" sz="1200" dirty="0"/>
          </a:p>
        </p:txBody>
      </p:sp>
      <p:sp>
        <p:nvSpPr>
          <p:cNvPr id="3" name="Text 1"/>
          <p:cNvSpPr>
            <a:spLocks noGrp="1"/>
          </p:cNvSpPr>
          <p:nvPr>
            <p:ph type="title"/>
          </p:nvPr>
        </p:nvSpPr>
        <p:spPr>
          <a:xfrm>
            <a:off x="812800" y="10007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Same footprints, different resolution and time</a:t>
            </a:r>
            <a:endParaRPr lang="en-US" sz="3000" dirty="0"/>
          </a:p>
        </p:txBody>
      </p:sp>
      <p:sp>
        <p:nvSpPr>
          <p:cNvPr id="4" name="Text 2"/>
          <p:cNvSpPr/>
          <p:nvPr/>
        </p:nvSpPr>
        <p:spPr>
          <a:xfrm>
            <a:off x="812800" y="1616714"/>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25B"/>
                </a:solidFill>
                <a:latin typeface="IBM Plex Sans" pitchFamily="34" charset="0"/>
                <a:ea typeface="IBM Plex Sans" pitchFamily="34" charset="-122"/>
                <a:cs typeface="IBM Plex Sans" pitchFamily="34" charset="-120"/>
              </a:rPr>
              <a:t>One 10 m grid (EPSG:32643), same 12 cells; every source valid in all 2,500 pixels of every cell.</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035810"/>
          <a:ext cx="10556239" cy="2291080"/>
        </p:xfrm>
        <a:graphic>
          <a:graphicData uri="http://schemas.openxmlformats.org/drawingml/2006/table">
            <a:tbl>
              <a:tblPr/>
              <a:tblGrid>
                <a:gridCol w="1688998">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3272434">
                  <a:extLst>
                    <a:ext uri="{9D8B030D-6E8A-4147-A177-3AD203B41FA5}">
                      <a16:colId xmlns:a16="http://schemas.microsoft.com/office/drawing/2014/main" val="20002"/>
                    </a:ext>
                  </a:extLst>
                </a:gridCol>
                <a:gridCol w="3272434">
                  <a:extLst>
                    <a:ext uri="{9D8B030D-6E8A-4147-A177-3AD203B41FA5}">
                      <a16:colId xmlns:a16="http://schemas.microsoft.com/office/drawing/2014/main" val="20003"/>
                    </a:ext>
                  </a:extLst>
                </a:gridCol>
              </a:tblGrid>
              <a:tr h="330200">
                <a:tc>
                  <a:txBody>
                    <a:bodyPr/>
                    <a:lstStyle/>
                    <a:p>
                      <a:pPr marL="0" indent="0">
                        <a:lnSpc>
                          <a:spcPts val="1680"/>
                        </a:lnSpc>
                        <a:buNone/>
                      </a:pP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Random forest (mine)</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Dynamic World V1</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CGLS-LC100 Collection 3</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Product ID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GOOGLE/DYNAMICWORLD/V1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COPERNICUS/Landcover/100m/ Proba-V-C3/Global/2019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Time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Oct–Dec + Feb–Mar 2019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The same 48 scenes (25 + 23)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Annual 2019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Resolution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10 m</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10 m</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100 m (25–36 native pixels per cell)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75692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Aggregation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Highest-probability class per pixel</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Mean probability per class over all 48 images, then highest mean; 39–40 looks per pixel</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Nearest neighbour onto the 10 m grid, no area weighting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12800" y="4504692"/>
            <a:ext cx="10566400" cy="670560"/>
          </a:xfrm>
          <a:prstGeom prst="roundRect">
            <a:avLst>
              <a:gd name="adj" fmla="val 11364"/>
            </a:avLst>
          </a:prstGeom>
          <a:solidFill>
            <a:srgbClr val="ECEAE3"/>
          </a:solidFill>
          <a:ln/>
        </p:spPr>
        <p:txBody>
          <a:bodyPr wrap="square" lIns="142782" tIns="91982" rIns="0" bIns="66582" rtlCol="0" anchor="t">
            <a:normAutofit/>
          </a:bodyPr>
          <a:lstStyle/>
          <a:p>
            <a:pPr marL="0" indent="0" algn="l">
              <a:lnSpc>
                <a:spcPts val="1740"/>
              </a:lnSpc>
              <a:buNone/>
            </a:pPr>
            <a:r>
              <a:rPr lang="en-US" sz="1200" b="1" dirty="0">
                <a:solidFill>
                  <a:srgbClr val="1F2A30"/>
                </a:solidFill>
                <a:latin typeface="IBM Plex Sans" pitchFamily="34" charset="0"/>
                <a:ea typeface="IBM Plex Sans" pitchFamily="34" charset="-122"/>
                <a:cs typeface="IBM Plex Sans" pitchFamily="34" charset="-120"/>
              </a:rPr>
              <a:t>Crosswalk (DW → class):</a:t>
            </a:r>
            <a:r>
              <a:rPr lang="en-US" sz="1200" dirty="0">
                <a:solidFill>
                  <a:srgbClr val="1F2A30"/>
                </a:solidFill>
                <a:latin typeface="IBM Plex Sans" pitchFamily="34" charset="0"/>
                <a:ea typeface="IBM Plex Sans" pitchFamily="34" charset="-122"/>
                <a:cs typeface="IBM Plex Sans" pitchFamily="34" charset="-120"/>
              </a:rPr>
              <a:t> water → Permanent water · grass → Herbaceous · crops → Cropland · shrub_and_scrub → Shrubs · built → Built-up · bare → Bare · trees → Forest* · flooded_vegetation → Herbaceous wetland*   </a:t>
            </a:r>
            <a:r>
              <a:rPr lang="en-US" sz="1200" i="1" dirty="0">
                <a:solidFill>
                  <a:srgbClr val="1F2A30"/>
                </a:solidFill>
                <a:latin typeface="IBM Plex Sans" pitchFamily="34" charset="0"/>
                <a:ea typeface="IBM Plex Sans" pitchFamily="34" charset="-122"/>
                <a:cs typeface="IBM Plex Sans" pitchFamily="34" charset="-120"/>
              </a:rPr>
              <a:t>*comparator only</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F2A30"/>
        </a:solidFill>
        <a:effectLst/>
      </p:bgPr>
    </p:bg>
    <p:spTree>
      <p:nvGrpSpPr>
        <p:cNvPr id="1" name=""/>
        <p:cNvGrpSpPr/>
        <p:nvPr/>
      </p:nvGrpSpPr>
      <p:grpSpPr>
        <a:xfrm>
          <a:off x="0" y="0"/>
          <a:ext cx="0" cy="0"/>
          <a:chOff x="0" y="0"/>
          <a:chExt cx="0" cy="0"/>
        </a:xfrm>
      </p:grpSpPr>
      <p:sp>
        <p:nvSpPr>
          <p:cNvPr id="2" name="Text 0"/>
          <p:cNvSpPr/>
          <p:nvPr/>
        </p:nvSpPr>
        <p:spPr>
          <a:xfrm>
            <a:off x="812800" y="1697596"/>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EC3E6"/>
                </a:solidFill>
                <a:latin typeface="IBM Plex Sans" pitchFamily="34" charset="0"/>
                <a:ea typeface="IBM Plex Sans" pitchFamily="34" charset="-122"/>
                <a:cs typeface="IBM Plex Sans" pitchFamily="34" charset="-120"/>
              </a:rPr>
              <a:t>MAIN FINDING</a:t>
            </a:r>
            <a:endParaRPr lang="en-US" sz="1200" dirty="0"/>
          </a:p>
        </p:txBody>
      </p:sp>
      <p:sp>
        <p:nvSpPr>
          <p:cNvPr id="3" name="Text 1"/>
          <p:cNvSpPr>
            <a:spLocks noGrp="1"/>
          </p:cNvSpPr>
          <p:nvPr>
            <p:ph type="title"/>
          </p:nvPr>
        </p:nvSpPr>
        <p:spPr>
          <a:xfrm>
            <a:off x="812800" y="2190353"/>
            <a:ext cx="10883392" cy="1561544"/>
          </a:xfrm>
          <a:prstGeom prst="rect">
            <a:avLst/>
          </a:prstGeom>
          <a:noFill/>
          <a:ln/>
        </p:spPr>
        <p:txBody>
          <a:bodyPr wrap="square" lIns="0" tIns="0" rIns="0" bIns="0" rtlCol="0" anchor="t">
            <a:normAutofit/>
          </a:bodyPr>
          <a:lstStyle/>
          <a:p>
            <a:pPr marL="0" indent="0" algn="l">
              <a:lnSpc>
                <a:spcPts val="4032"/>
              </a:lnSpc>
              <a:buNone/>
            </a:pPr>
            <a:r>
              <a:rPr lang="en-US" sz="3600" b="1" i="0" dirty="0">
                <a:solidFill>
                  <a:srgbClr val="F3F1EA"/>
                </a:solidFill>
                <a:latin typeface="Source Serif 4" pitchFamily="18" charset="0"/>
                <a:ea typeface="Source Serif 4" pitchFamily="18" charset="-122"/>
                <a:cs typeface="Source Serif 4" pitchFamily="18" charset="-120"/>
              </a:rPr>
              <a:t>My random forest and Dynamic World give the same label in 7 of 12 cells, and overlap in 11 of 12.</a:t>
            </a:r>
            <a:endParaRPr lang="en-US" sz="3600" dirty="0"/>
          </a:p>
        </p:txBody>
      </p:sp>
      <p:sp>
        <p:nvSpPr>
          <p:cNvPr id="4" name="Text 2"/>
          <p:cNvSpPr/>
          <p:nvPr/>
        </p:nvSpPr>
        <p:spPr>
          <a:xfrm>
            <a:off x="812800" y="4005901"/>
            <a:ext cx="9810750" cy="65151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C9D3D6"/>
                </a:solidFill>
                <a:latin typeface="IBM Plex Sans" pitchFamily="34" charset="0"/>
                <a:ea typeface="IBM Plex Sans" pitchFamily="34" charset="-122"/>
                <a:cs typeface="IBM Plex Sans" pitchFamily="34" charset="-120"/>
              </a:rPr>
              <a:t>All three maps agree on open water and farmland. They part ways where cover is mixed or seasonal: the reservoir margin and the hill slope.</a:t>
            </a:r>
            <a:endParaRPr lang="en-US" sz="1700" dirty="0"/>
          </a:p>
        </p:txBody>
      </p:sp>
      <p:sp>
        <p:nvSpPr>
          <p:cNvPr id="5" name="Text 3"/>
          <p:cNvSpPr/>
          <p:nvPr/>
        </p:nvSpPr>
        <p:spPr>
          <a:xfrm>
            <a:off x="812800" y="491140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48A"/>
                </a:solidFill>
                <a:latin typeface="IBM Plex Sans" pitchFamily="34" charset="0"/>
                <a:ea typeface="IBM Plex Sans" pitchFamily="34" charset="-122"/>
                <a:cs typeface="IBM Plex Sans" pitchFamily="34" charset="-120"/>
              </a:rPr>
              <a:t>This is agreement between maps, not accuracy.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RESULTS</a:t>
            </a:r>
            <a:endParaRPr lang="en-US" sz="1200" dirty="0"/>
          </a:p>
        </p:txBody>
      </p:sp>
      <p:sp>
        <p:nvSpPr>
          <p:cNvPr id="3" name="Text 1"/>
          <p:cNvSpPr>
            <a:spLocks noGrp="1"/>
          </p:cNvSpPr>
          <p:nvPr>
            <p:ph type="title"/>
          </p:nvPr>
        </p:nvSpPr>
        <p:spPr>
          <a:xfrm>
            <a:off x="812800" y="10007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Twelve cells, four sources</a:t>
            </a:r>
            <a:endParaRPr lang="en-US" sz="3000" dirty="0"/>
          </a:p>
        </p:txBody>
      </p:sp>
      <p:sp>
        <p:nvSpPr>
          <p:cNvPr id="4" name="Shape 2"/>
          <p:cNvSpPr/>
          <p:nvPr/>
        </p:nvSpPr>
        <p:spPr>
          <a:xfrm>
            <a:off x="812800" y="1642114"/>
            <a:ext cx="10566400" cy="2413000"/>
          </a:xfrm>
          <a:prstGeom prst="roundRect">
            <a:avLst>
              <a:gd name="adj" fmla="val 2105"/>
            </a:avLst>
          </a:prstGeom>
          <a:solidFill>
            <a:srgbClr val="FDFCF9"/>
          </a:solidFill>
          <a:ln/>
        </p:spPr>
      </p:sp>
      <p:pic>
        <p:nvPicPr>
          <p:cNvPr id="5" name="Image 0" descr="Oct–Dec RGB and four 3 × 4 label grids: my visual labels, random forest, Dynamic World, CGLS-LC100 2019; hatched cells are Mixed"/>
          <p:cNvPicPr>
            <a:picLocks noChangeAspect="1"/>
          </p:cNvPicPr>
          <p:nvPr/>
        </p:nvPicPr>
        <p:blipFill>
          <a:blip r:embed="rId3"/>
          <a:srcRect t="-68" b="-68"/>
          <a:stretch/>
        </p:blipFill>
        <p:spPr>
          <a:xfrm>
            <a:off x="812800" y="1642114"/>
            <a:ext cx="10566400" cy="2413000"/>
          </a:xfrm>
          <a:prstGeom prst="roundRect">
            <a:avLst>
              <a:gd name="adj" fmla="val 2105"/>
            </a:avLst>
          </a:prstGeom>
        </p:spPr>
      </p:pic>
      <p:sp>
        <p:nvSpPr>
          <p:cNvPr id="6" name="Shape 3"/>
          <p:cNvSpPr/>
          <p:nvPr/>
        </p:nvSpPr>
        <p:spPr>
          <a:xfrm>
            <a:off x="815975" y="4261489"/>
            <a:ext cx="3431064" cy="1187450"/>
          </a:xfrm>
          <a:prstGeom prst="roundRect">
            <a:avLst>
              <a:gd name="adj" fmla="val 6150"/>
            </a:avLst>
          </a:prstGeom>
          <a:solidFill>
            <a:srgbClr val="FDFCF9"/>
          </a:solidFill>
          <a:ln w="6350">
            <a:solidFill>
              <a:srgbClr val="DEDBD2"/>
            </a:solidFill>
            <a:prstDash val="solid"/>
          </a:ln>
        </p:spPr>
      </p:sp>
      <p:sp>
        <p:nvSpPr>
          <p:cNvPr id="7" name="Text 4"/>
          <p:cNvSpPr/>
          <p:nvPr/>
        </p:nvSpPr>
        <p:spPr>
          <a:xfrm>
            <a:off x="970280" y="4403092"/>
            <a:ext cx="321612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A30"/>
                </a:solidFill>
                <a:latin typeface="IBM Plex Sans" pitchFamily="34" charset="0"/>
                <a:ea typeface="IBM Plex Sans" pitchFamily="34" charset="-122"/>
                <a:cs typeface="IBM Plex Sans" pitchFamily="34" charset="-120"/>
              </a:rPr>
              <a:t>All agree: 5 cells</a:t>
            </a:r>
            <a:endParaRPr lang="en-US" sz="1400" dirty="0"/>
          </a:p>
        </p:txBody>
      </p:sp>
      <p:sp>
        <p:nvSpPr>
          <p:cNvPr id="8" name="Text 5"/>
          <p:cNvSpPr/>
          <p:nvPr/>
        </p:nvSpPr>
        <p:spPr>
          <a:xfrm>
            <a:off x="970280" y="4667250"/>
            <a:ext cx="321612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C03, C04, C08, C12 farmland and C09 open water</a:t>
            </a:r>
            <a:endParaRPr lang="en-US" sz="1200" dirty="0"/>
          </a:p>
        </p:txBody>
      </p:sp>
      <p:sp>
        <p:nvSpPr>
          <p:cNvPr id="9" name="Shape 6"/>
          <p:cNvSpPr/>
          <p:nvPr/>
        </p:nvSpPr>
        <p:spPr>
          <a:xfrm>
            <a:off x="4380389" y="4261489"/>
            <a:ext cx="3431143" cy="1187450"/>
          </a:xfrm>
          <a:prstGeom prst="roundRect">
            <a:avLst>
              <a:gd name="adj" fmla="val 6150"/>
            </a:avLst>
          </a:prstGeom>
          <a:solidFill>
            <a:srgbClr val="FDFCF9"/>
          </a:solidFill>
          <a:ln w="6350">
            <a:solidFill>
              <a:srgbClr val="DEDBD2"/>
            </a:solidFill>
            <a:prstDash val="solid"/>
          </a:ln>
        </p:spPr>
      </p:sp>
      <p:sp>
        <p:nvSpPr>
          <p:cNvPr id="10" name="Text 7"/>
          <p:cNvSpPr/>
          <p:nvPr/>
        </p:nvSpPr>
        <p:spPr>
          <a:xfrm>
            <a:off x="4534694" y="4403092"/>
            <a:ext cx="321620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A30"/>
                </a:solidFill>
                <a:latin typeface="IBM Plex Sans" pitchFamily="34" charset="0"/>
                <a:ea typeface="IBM Plex Sans" pitchFamily="34" charset="-122"/>
                <a:cs typeface="IBM Plex Sans" pitchFamily="34" charset="-120"/>
              </a:rPr>
              <a:t>CGLS: water as wetland</a:t>
            </a:r>
            <a:endParaRPr lang="en-US" sz="1400" dirty="0"/>
          </a:p>
        </p:txBody>
      </p:sp>
      <p:sp>
        <p:nvSpPr>
          <p:cNvPr id="11" name="Text 8"/>
          <p:cNvSpPr/>
          <p:nvPr/>
        </p:nvSpPr>
        <p:spPr>
          <a:xfrm>
            <a:off x="4534694" y="4667250"/>
            <a:ext cx="3216209"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C01, C05 open water become Herbaceous wetland: 100 m pixels, annual map with low-water months</a:t>
            </a:r>
            <a:endParaRPr lang="en-US" sz="1200" dirty="0"/>
          </a:p>
        </p:txBody>
      </p:sp>
      <p:sp>
        <p:nvSpPr>
          <p:cNvPr id="12" name="Shape 9"/>
          <p:cNvSpPr/>
          <p:nvPr/>
        </p:nvSpPr>
        <p:spPr>
          <a:xfrm>
            <a:off x="7944882" y="4261489"/>
            <a:ext cx="3431143" cy="1187450"/>
          </a:xfrm>
          <a:prstGeom prst="roundRect">
            <a:avLst>
              <a:gd name="adj" fmla="val 6150"/>
            </a:avLst>
          </a:prstGeom>
          <a:solidFill>
            <a:srgbClr val="FDFCF9"/>
          </a:solidFill>
          <a:ln w="6350">
            <a:solidFill>
              <a:srgbClr val="DEDBD2"/>
            </a:solidFill>
            <a:prstDash val="solid"/>
          </a:ln>
        </p:spPr>
      </p:sp>
      <p:sp>
        <p:nvSpPr>
          <p:cNvPr id="13" name="Text 10"/>
          <p:cNvSpPr/>
          <p:nvPr/>
        </p:nvSpPr>
        <p:spPr>
          <a:xfrm>
            <a:off x="8099187" y="4403092"/>
            <a:ext cx="321620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A30"/>
                </a:solidFill>
                <a:latin typeface="IBM Plex Sans" pitchFamily="34" charset="0"/>
                <a:ea typeface="IBM Plex Sans" pitchFamily="34" charset="-122"/>
                <a:cs typeface="IBM Plex Sans" pitchFamily="34" charset="-120"/>
              </a:rPr>
              <a:t>Three answers: C06, C10</a:t>
            </a:r>
            <a:endParaRPr lang="en-US" sz="1400" dirty="0"/>
          </a:p>
        </p:txBody>
      </p:sp>
      <p:sp>
        <p:nvSpPr>
          <p:cNvPr id="14" name="Text 11"/>
          <p:cNvSpPr/>
          <p:nvPr/>
        </p:nvSpPr>
        <p:spPr>
          <a:xfrm>
            <a:off x="8099187" y="4667250"/>
            <a:ext cx="321620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Reservoir margin; C02 slope also splits (RF scrub vs cropland in both products)</a:t>
            </a:r>
            <a:endParaRPr lang="en-US" sz="1200" dirty="0"/>
          </a:p>
        </p:txBody>
      </p:sp>
      <p:sp>
        <p:nvSpPr>
          <p:cNvPr id="16" name="Text 1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AGREEMENT</a:t>
            </a:r>
            <a:endParaRPr lang="en-US" sz="1200" dirty="0"/>
          </a:p>
        </p:txBody>
      </p:sp>
      <p:sp>
        <p:nvSpPr>
          <p:cNvPr id="3" name="Text 1"/>
          <p:cNvSpPr>
            <a:spLocks noGrp="1"/>
          </p:cNvSpPr>
          <p:nvPr>
            <p:ph type="title"/>
          </p:nvPr>
        </p:nvSpPr>
        <p:spPr>
          <a:xfrm>
            <a:off x="812800" y="10007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Every count with its denominator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52274"/>
          <a:ext cx="10556240" cy="2729230"/>
        </p:xfrm>
        <a:graphic>
          <a:graphicData uri="http://schemas.openxmlformats.org/drawingml/2006/table">
            <a:tbl>
              <a:tblPr/>
              <a:tblGrid>
                <a:gridCol w="2850185">
                  <a:extLst>
                    <a:ext uri="{9D8B030D-6E8A-4147-A177-3AD203B41FA5}">
                      <a16:colId xmlns:a16="http://schemas.microsoft.com/office/drawing/2014/main" val="20000"/>
                    </a:ext>
                  </a:extLst>
                </a:gridCol>
                <a:gridCol w="1583436">
                  <a:extLst>
                    <a:ext uri="{9D8B030D-6E8A-4147-A177-3AD203B41FA5}">
                      <a16:colId xmlns:a16="http://schemas.microsoft.com/office/drawing/2014/main" val="20001"/>
                    </a:ext>
                  </a:extLst>
                </a:gridCol>
                <a:gridCol w="1583436">
                  <a:extLst>
                    <a:ext uri="{9D8B030D-6E8A-4147-A177-3AD203B41FA5}">
                      <a16:colId xmlns:a16="http://schemas.microsoft.com/office/drawing/2014/main" val="20002"/>
                    </a:ext>
                  </a:extLst>
                </a:gridCol>
                <a:gridCol w="1583436">
                  <a:extLst>
                    <a:ext uri="{9D8B030D-6E8A-4147-A177-3AD203B41FA5}">
                      <a16:colId xmlns:a16="http://schemas.microsoft.com/office/drawing/2014/main" val="20003"/>
                    </a:ext>
                  </a:extLst>
                </a:gridCol>
                <a:gridCol w="1583436">
                  <a:extLst>
                    <a:ext uri="{9D8B030D-6E8A-4147-A177-3AD203B41FA5}">
                      <a16:colId xmlns:a16="http://schemas.microsoft.com/office/drawing/2014/main" val="20004"/>
                    </a:ext>
                  </a:extLst>
                </a:gridCol>
                <a:gridCol w="1372311">
                  <a:extLst>
                    <a:ext uri="{9D8B030D-6E8A-4147-A177-3AD203B41FA5}">
                      <a16:colId xmlns:a16="http://schemas.microsoft.com/office/drawing/2014/main" val="20005"/>
                    </a:ext>
                  </a:extLst>
                </a:gridCol>
              </a:tblGrid>
              <a:tr h="588010">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Pair</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Cells</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Exact label</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95% CI (exact)</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Same or overlapping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Area in common</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RF vs Dynamic World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32–81%</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74%</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RF vs CGLS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25–75%</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58%</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Dynamic World vs CGLS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32–81%</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66%</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My labels vs RF</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6 (3 High)</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4 (2)</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30–90%</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6 (3)</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My labels vs DW</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6 (3 High)</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3 (2)</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19–81%</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5 (2)</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My labels vs CGLS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6 (3 High)</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1 (0)</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3–56%</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2 (0)</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584700"/>
            <a:ext cx="5376291" cy="957183"/>
          </a:xfrm>
          <a:prstGeom prst="rect">
            <a:avLst/>
          </a:prstGeom>
          <a:noFill/>
          <a:ln/>
        </p:spPr>
        <p:txBody>
          <a:bodyPr wrap="square" lIns="0" tIns="0" rIns="0" bIns="0" rtlCol="0" anchor="t">
            <a:normAutofit/>
          </a:bodyPr>
          <a:lstStyle/>
          <a:p>
            <a:pPr marL="0" indent="0" algn="l">
              <a:lnSpc>
                <a:spcPts val="1704"/>
              </a:lnSpc>
              <a:buNone/>
            </a:pPr>
            <a:r>
              <a:rPr lang="en-US" sz="1200" b="1" dirty="0">
                <a:solidFill>
                  <a:srgbClr val="46525B"/>
                </a:solidFill>
                <a:latin typeface="IBM Plex Sans" pitchFamily="34" charset="0"/>
                <a:ea typeface="IBM Plex Sans" pitchFamily="34" charset="-122"/>
                <a:cs typeface="IBM Plex Sans" pitchFamily="34" charset="-120"/>
              </a:rPr>
              <a:t>Exact:</a:t>
            </a:r>
            <a:r>
              <a:rPr lang="en-US" sz="1200" dirty="0">
                <a:solidFill>
                  <a:srgbClr val="46525B"/>
                </a:solidFill>
                <a:latin typeface="IBM Plex Sans" pitchFamily="34" charset="0"/>
                <a:ea typeface="IBM Plex Sans" pitchFamily="34" charset="-122"/>
                <a:cs typeface="IBM Plex Sans" pitchFamily="34" charset="-120"/>
              </a:rPr>
              <a:t> same class, or the same Mixed pair. </a:t>
            </a:r>
            <a:r>
              <a:rPr lang="en-US" sz="1200" b="1" dirty="0">
                <a:solidFill>
                  <a:srgbClr val="46525B"/>
                </a:solidFill>
                <a:latin typeface="IBM Plex Sans" pitchFamily="34" charset="0"/>
                <a:ea typeface="IBM Plex Sans" pitchFamily="34" charset="-122"/>
                <a:cs typeface="IBM Plex Sans" pitchFamily="34" charset="-120"/>
              </a:rPr>
              <a:t>Overlapping:</a:t>
            </a:r>
            <a:r>
              <a:rPr lang="en-US" sz="1200" dirty="0">
                <a:solidFill>
                  <a:srgbClr val="46525B"/>
                </a:solidFill>
                <a:latin typeface="IBM Plex Sans" pitchFamily="34" charset="0"/>
                <a:ea typeface="IBM Plex Sans" pitchFamily="34" charset="-122"/>
                <a:cs typeface="IBM Plex Sans" pitchFamily="34" charset="-120"/>
              </a:rPr>
              <a:t> a Mixed label also matches either of its classes. </a:t>
            </a:r>
            <a:r>
              <a:rPr lang="en-US" sz="1200" b="1" dirty="0">
                <a:solidFill>
                  <a:srgbClr val="46525B"/>
                </a:solidFill>
                <a:latin typeface="IBM Plex Sans" pitchFamily="34" charset="0"/>
                <a:ea typeface="IBM Plex Sans" pitchFamily="34" charset="-122"/>
                <a:cs typeface="IBM Plex Sans" pitchFamily="34" charset="-120"/>
              </a:rPr>
              <a:t>Area in common:</a:t>
            </a:r>
            <a:r>
              <a:rPr lang="en-US" sz="1200" dirty="0">
                <a:solidFill>
                  <a:srgbClr val="46525B"/>
                </a:solidFill>
                <a:latin typeface="IBM Plex Sans" pitchFamily="34" charset="0"/>
                <a:ea typeface="IBM Plex Sans" pitchFamily="34" charset="-122"/>
                <a:cs typeface="IBM Plex Sans" pitchFamily="34" charset="-120"/>
              </a:rPr>
              <a:t> sum of the smaller share per class, mean of 12 cells. Brackets: my 3 High-confidence cells only.</a:t>
            </a:r>
            <a:endParaRPr lang="en-US" sz="1200" dirty="0"/>
          </a:p>
        </p:txBody>
      </p:sp>
      <p:sp>
        <p:nvSpPr>
          <p:cNvPr id="6" name="Text 3"/>
          <p:cNvSpPr/>
          <p:nvPr/>
        </p:nvSpPr>
        <p:spPr>
          <a:xfrm>
            <a:off x="6159500" y="4584700"/>
            <a:ext cx="5219700" cy="931783"/>
          </a:xfrm>
          <a:prstGeom prst="roundRect">
            <a:avLst>
              <a:gd name="adj" fmla="val 6815"/>
            </a:avLst>
          </a:prstGeom>
          <a:solidFill>
            <a:srgbClr val="F6E7DC"/>
          </a:solidFill>
          <a:ln/>
        </p:spPr>
        <p:txBody>
          <a:bodyPr wrap="square" lIns="121101" tIns="95701" rIns="0" bIns="70301" rtlCol="0" anchor="t">
            <a:normAutofit/>
          </a:bodyPr>
          <a:lstStyle/>
          <a:p>
            <a:pPr marL="0" indent="0" algn="l">
              <a:lnSpc>
                <a:spcPts val="1846"/>
              </a:lnSpc>
              <a:buNone/>
            </a:pPr>
            <a:r>
              <a:rPr lang="en-US" sz="1300" b="1" dirty="0">
                <a:solidFill>
                  <a:srgbClr val="1F2A30"/>
                </a:solidFill>
                <a:latin typeface="IBM Plex Sans" pitchFamily="34" charset="0"/>
                <a:ea typeface="IBM Plex Sans" pitchFamily="34" charset="-122"/>
                <a:cs typeface="IBM Plex Sans" pitchFamily="34" charset="-120"/>
              </a:rPr>
              <a:t>Map vs map is agreement, not accuracy.</a:t>
            </a:r>
            <a:r>
              <a:rPr lang="en-US" sz="1300" dirty="0">
                <a:solidFill>
                  <a:srgbClr val="1F2A30"/>
                </a:solidFill>
                <a:latin typeface="IBM Plex Sans" pitchFamily="34" charset="0"/>
                <a:ea typeface="IBM Plex Sans" pitchFamily="34" charset="-122"/>
                <a:cs typeface="IBM Plex Sans" pitchFamily="34" charset="-120"/>
              </a:rPr>
              <a:t> My six labels are an imperfect check by one person; 4 of 6 fits a true rate anywhere from 30% to 90%.</a:t>
            </a:r>
            <a:endParaRPr lang="en-US" sz="13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4A00"/>
                </a:solidFill>
                <a:latin typeface="IBM Plex Sans" pitchFamily="34" charset="0"/>
                <a:ea typeface="IBM Plex Sans" pitchFamily="34" charset="-122"/>
                <a:cs typeface="IBM Plex Sans" pitchFamily="34" charset="-120"/>
              </a:rPr>
              <a:t>DIAGNOSIS 1 · C02</a:t>
            </a:r>
            <a:endParaRPr lang="en-US" sz="1200" dirty="0"/>
          </a:p>
        </p:txBody>
      </p:sp>
      <p:sp>
        <p:nvSpPr>
          <p:cNvPr id="3" name="Text 1"/>
          <p:cNvSpPr>
            <a:spLocks noGrp="1"/>
          </p:cNvSpPr>
          <p:nvPr>
            <p:ph type="title"/>
          </p:nvPr>
        </p:nvSpPr>
        <p:spPr>
          <a:xfrm>
            <a:off x="812800" y="10007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Scrub to me, cropland to both products</a:t>
            </a:r>
            <a:endParaRPr lang="en-US" sz="3000" dirty="0"/>
          </a:p>
        </p:txBody>
      </p:sp>
      <p:sp>
        <p:nvSpPr>
          <p:cNvPr id="4" name="Shape 2"/>
          <p:cNvSpPr/>
          <p:nvPr/>
        </p:nvSpPr>
        <p:spPr>
          <a:xfrm>
            <a:off x="812800" y="1616714"/>
            <a:ext cx="5715000" cy="4000500"/>
          </a:xfrm>
          <a:prstGeom prst="roundRect">
            <a:avLst>
              <a:gd name="adj" fmla="val 1270"/>
            </a:avLst>
          </a:prstGeom>
          <a:solidFill>
            <a:srgbClr val="FFFFFF"/>
          </a:solidFill>
          <a:ln/>
        </p:spPr>
      </p:sp>
      <p:pic>
        <p:nvPicPr>
          <p:cNvPr id="5" name="Image 0" descr="C02 diagnosis panel: Oct–Dec and Feb–Mar chips, RF, Dynamic World and CGLS maps, class-share bars and Dynamic World per-date probabilities"/>
          <p:cNvPicPr>
            <a:picLocks noChangeAspect="1"/>
          </p:cNvPicPr>
          <p:nvPr/>
        </p:nvPicPr>
        <p:blipFill>
          <a:blip r:embed="rId3"/>
          <a:srcRect t="-3" b="-3"/>
          <a:stretch/>
        </p:blipFill>
        <p:spPr>
          <a:xfrm>
            <a:off x="812800" y="1616714"/>
            <a:ext cx="5715000" cy="4000500"/>
          </a:xfrm>
          <a:prstGeom prst="roundRect">
            <a:avLst>
              <a:gd name="adj" fmla="val 1270"/>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17360" y="1626874"/>
          <a:ext cx="4561840" cy="1651000"/>
        </p:xfrm>
        <a:graphic>
          <a:graphicData uri="http://schemas.openxmlformats.org/drawingml/2006/table">
            <a:tbl>
              <a:tblPr/>
              <a:tblGrid>
                <a:gridCol w="1368552">
                  <a:extLst>
                    <a:ext uri="{9D8B030D-6E8A-4147-A177-3AD203B41FA5}">
                      <a16:colId xmlns:a16="http://schemas.microsoft.com/office/drawing/2014/main" val="20000"/>
                    </a:ext>
                  </a:extLst>
                </a:gridCol>
                <a:gridCol w="3193288">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Source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Label</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Visual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Shrubs (High)</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RF</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Mixed: Shrubs 40%, Herb. 28%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DW</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Cropland 84%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CGLS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Cropland 79% (25 px)</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p:nvPr/>
        </p:nvSpPr>
        <p:spPr>
          <a:xfrm>
            <a:off x="6807200" y="3392171"/>
            <a:ext cx="47091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OBSERVED</a:t>
            </a:r>
            <a:endParaRPr lang="en-US" sz="1200" dirty="0"/>
          </a:p>
        </p:txBody>
      </p:sp>
      <p:sp>
        <p:nvSpPr>
          <p:cNvPr id="8" name="Text 4"/>
          <p:cNvSpPr/>
          <p:nvPr/>
        </p:nvSpPr>
        <p:spPr>
          <a:xfrm>
            <a:off x="6807200" y="3643629"/>
            <a:ext cx="4709160" cy="445929"/>
          </a:xfrm>
          <a:prstGeom prst="rect">
            <a:avLst/>
          </a:prstGeom>
          <a:noFill/>
          <a:ln/>
        </p:spPr>
        <p:txBody>
          <a:bodyPr wrap="square" lIns="0" tIns="0" rIns="0" bIns="0" rtlCol="0" anchor="t">
            <a:normAutofit/>
          </a:bodyPr>
          <a:lstStyle/>
          <a:p>
            <a:pPr marL="0" indent="0" algn="l">
              <a:lnSpc>
                <a:spcPts val="1656"/>
              </a:lnSpc>
              <a:buNone/>
            </a:pPr>
            <a:r>
              <a:rPr lang="en-US" sz="1200" dirty="0">
                <a:solidFill>
                  <a:srgbClr val="1F2A30"/>
                </a:solidFill>
                <a:latin typeface="IBM Plex Sans" pitchFamily="34" charset="0"/>
                <a:ea typeface="IBM Plex Sans" pitchFamily="34" charset="-122"/>
                <a:cs typeface="IBM Plex Sans" pitchFamily="34" charset="-120"/>
              </a:rPr>
              <a:t>Pale and dry in Feb–Mar. DW's per-date cropland probability stays about 0.3–0.45: a weak preference.</a:t>
            </a:r>
            <a:endParaRPr lang="en-US" sz="1200" dirty="0"/>
          </a:p>
        </p:txBody>
      </p:sp>
      <p:sp>
        <p:nvSpPr>
          <p:cNvPr id="9" name="Text 5"/>
          <p:cNvSpPr/>
          <p:nvPr/>
        </p:nvSpPr>
        <p:spPr>
          <a:xfrm>
            <a:off x="6807200" y="4178461"/>
            <a:ext cx="47091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IBM Plex Sans" pitchFamily="34" charset="0"/>
                <a:ea typeface="IBM Plex Sans" pitchFamily="34" charset="-122"/>
                <a:cs typeface="IBM Plex Sans" pitchFamily="34" charset="-120"/>
              </a:rPr>
              <a:t>HYPOTHESIS</a:t>
            </a:r>
            <a:endParaRPr lang="en-US" sz="1200" dirty="0"/>
          </a:p>
        </p:txBody>
      </p:sp>
      <p:sp>
        <p:nvSpPr>
          <p:cNvPr id="10" name="Text 6"/>
          <p:cNvSpPr/>
          <p:nvPr/>
        </p:nvSpPr>
        <p:spPr>
          <a:xfrm>
            <a:off x="6807200" y="4429919"/>
            <a:ext cx="4709160" cy="445929"/>
          </a:xfrm>
          <a:prstGeom prst="rect">
            <a:avLst/>
          </a:prstGeom>
          <a:noFill/>
          <a:ln/>
        </p:spPr>
        <p:txBody>
          <a:bodyPr wrap="square" lIns="0" tIns="0" rIns="0" bIns="0" rtlCol="0" anchor="t">
            <a:normAutofit/>
          </a:bodyPr>
          <a:lstStyle/>
          <a:p>
            <a:pPr marL="0" indent="0" algn="l">
              <a:lnSpc>
                <a:spcPts val="1656"/>
              </a:lnSpc>
              <a:buNone/>
            </a:pPr>
            <a:r>
              <a:rPr lang="en-US" sz="1200" dirty="0">
                <a:solidFill>
                  <a:srgbClr val="1F2A30"/>
                </a:solidFill>
                <a:latin typeface="IBM Plex Sans" pitchFamily="34" charset="0"/>
                <a:ea typeface="IBM Plex Sans" pitchFamily="34" charset="-122"/>
                <a:cs typeface="IBM Plex Sans" pitchFamily="34" charset="-120"/>
              </a:rPr>
              <a:t>Rain-fed fields left unplanted outside the monsoon, so they look like dry scrub.</a:t>
            </a:r>
            <a:endParaRPr lang="en-US" sz="1200" dirty="0"/>
          </a:p>
        </p:txBody>
      </p:sp>
      <p:sp>
        <p:nvSpPr>
          <p:cNvPr id="11" name="Text 7"/>
          <p:cNvSpPr/>
          <p:nvPr/>
        </p:nvSpPr>
        <p:spPr>
          <a:xfrm>
            <a:off x="6807200" y="4964751"/>
            <a:ext cx="47091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6525B"/>
                </a:solidFill>
                <a:latin typeface="IBM Plex Sans" pitchFamily="34" charset="0"/>
                <a:ea typeface="IBM Plex Sans" pitchFamily="34" charset="-122"/>
                <a:cs typeface="IBM Plex Sans" pitchFamily="34" charset="-120"/>
              </a:rPr>
              <a:t>WOULD SETTLE IT</a:t>
            </a:r>
            <a:endParaRPr lang="en-US" sz="1200" dirty="0"/>
          </a:p>
        </p:txBody>
      </p:sp>
      <p:sp>
        <p:nvSpPr>
          <p:cNvPr id="12" name="Text 8"/>
          <p:cNvSpPr/>
          <p:nvPr/>
        </p:nvSpPr>
        <p:spPr>
          <a:xfrm>
            <a:off x="6807200" y="5216209"/>
            <a:ext cx="4709160" cy="445929"/>
          </a:xfrm>
          <a:prstGeom prst="rect">
            <a:avLst/>
          </a:prstGeom>
          <a:noFill/>
          <a:ln/>
        </p:spPr>
        <p:txBody>
          <a:bodyPr wrap="square" lIns="0" tIns="0" rIns="0" bIns="0" rtlCol="0" anchor="t">
            <a:normAutofit/>
          </a:bodyPr>
          <a:lstStyle/>
          <a:p>
            <a:pPr marL="0" indent="0" algn="l">
              <a:lnSpc>
                <a:spcPts val="1656"/>
              </a:lnSpc>
              <a:buNone/>
            </a:pPr>
            <a:r>
              <a:rPr lang="en-US" sz="1200" dirty="0">
                <a:solidFill>
                  <a:srgbClr val="1F2A30"/>
                </a:solidFill>
                <a:latin typeface="IBM Plex Sans" pitchFamily="34" charset="0"/>
                <a:ea typeface="IBM Plex Sans" pitchFamily="34" charset="-122"/>
                <a:cs typeface="IBM Plex Sans" pitchFamily="34" charset="-120"/>
              </a:rPr>
              <a:t>Jun–Sep 2019 images: active fields turn green and regular. Then a field visit.</a:t>
            </a:r>
            <a:endParaRPr lang="en-US" sz="1200" dirty="0"/>
          </a:p>
        </p:txBody>
      </p:sp>
      <p:sp>
        <p:nvSpPr>
          <p:cNvPr id="14" name="Text 1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52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DIAGNOSIS 2 · C10</a:t>
            </a:r>
            <a:endParaRPr lang="en-US" sz="1200" dirty="0"/>
          </a:p>
        </p:txBody>
      </p:sp>
      <p:sp>
        <p:nvSpPr>
          <p:cNvPr id="3" name="Text 1"/>
          <p:cNvSpPr>
            <a:spLocks noGrp="1"/>
          </p:cNvSpPr>
          <p:nvPr>
            <p:ph type="title"/>
          </p:nvPr>
        </p:nvSpPr>
        <p:spPr>
          <a:xfrm>
            <a:off x="812800" y="1000522"/>
            <a:ext cx="10883392" cy="46307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Four sources, four different answers</a:t>
            </a:r>
            <a:endParaRPr lang="en-US" sz="3000" dirty="0"/>
          </a:p>
        </p:txBody>
      </p:sp>
      <p:sp>
        <p:nvSpPr>
          <p:cNvPr id="4" name="Shape 2"/>
          <p:cNvSpPr/>
          <p:nvPr/>
        </p:nvSpPr>
        <p:spPr>
          <a:xfrm>
            <a:off x="812800" y="1616001"/>
            <a:ext cx="5715000" cy="4000500"/>
          </a:xfrm>
          <a:prstGeom prst="roundRect">
            <a:avLst>
              <a:gd name="adj" fmla="val 1270"/>
            </a:avLst>
          </a:prstGeom>
          <a:solidFill>
            <a:srgbClr val="FFFFFF"/>
          </a:solidFill>
          <a:ln/>
        </p:spPr>
      </p:sp>
      <p:pic>
        <p:nvPicPr>
          <p:cNvPr id="5" name="Image 0" descr="C10 diagnosis panel: Oct–Dec and Feb–Mar chips, RF, Dynamic World and CGLS maps, class-share bars and Dynamic World per-date probabilities"/>
          <p:cNvPicPr>
            <a:picLocks noChangeAspect="1"/>
          </p:cNvPicPr>
          <p:nvPr/>
        </p:nvPicPr>
        <p:blipFill>
          <a:blip r:embed="rId3"/>
          <a:srcRect t="-3" b="-3"/>
          <a:stretch/>
        </p:blipFill>
        <p:spPr>
          <a:xfrm>
            <a:off x="812800" y="1616001"/>
            <a:ext cx="5715000" cy="4000500"/>
          </a:xfrm>
          <a:prstGeom prst="roundRect">
            <a:avLst>
              <a:gd name="adj" fmla="val 1270"/>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17360" y="1626161"/>
          <a:ext cx="4561840" cy="1651000"/>
        </p:xfrm>
        <a:graphic>
          <a:graphicData uri="http://schemas.openxmlformats.org/drawingml/2006/table">
            <a:tbl>
              <a:tblPr/>
              <a:tblGrid>
                <a:gridCol w="1368552">
                  <a:extLst>
                    <a:ext uri="{9D8B030D-6E8A-4147-A177-3AD203B41FA5}">
                      <a16:colId xmlns:a16="http://schemas.microsoft.com/office/drawing/2014/main" val="20000"/>
                    </a:ext>
                  </a:extLst>
                </a:gridCol>
                <a:gridCol w="3193288">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Source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F2A30"/>
                          </a:solidFill>
                          <a:latin typeface="IBM Plex Sans" pitchFamily="34" charset="0"/>
                          <a:ea typeface="IBM Plex Sans" pitchFamily="34" charset="-122"/>
                          <a:cs typeface="IBM Plex Sans" pitchFamily="34" charset="-120"/>
                        </a:rPr>
                        <a:t>Label</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Visual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Built-up + Shrubs (Med.)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RF</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Shrubs 55%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DW</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Mixed: Crop 38%, Shrubs 28%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CGLS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2A30"/>
                          </a:solidFill>
                          <a:latin typeface="IBM Plex Sans" pitchFamily="34" charset="0"/>
                          <a:ea typeface="IBM Plex Sans" pitchFamily="34" charset="-122"/>
                          <a:cs typeface="IBM Plex Sans" pitchFamily="34" charset="-120"/>
                        </a:rPr>
                        <a:t>Herbaceous 66% (30 px)</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p:nvPr/>
        </p:nvSpPr>
        <p:spPr>
          <a:xfrm>
            <a:off x="6807200" y="3391458"/>
            <a:ext cx="47091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A8C"/>
                </a:solidFill>
                <a:latin typeface="IBM Plex Sans" pitchFamily="34" charset="0"/>
                <a:ea typeface="IBM Plex Sans" pitchFamily="34" charset="-122"/>
                <a:cs typeface="IBM Plex Sans" pitchFamily="34" charset="-120"/>
              </a:rPr>
              <a:t>OBSERVED</a:t>
            </a:r>
            <a:endParaRPr lang="en-US" sz="1200" dirty="0"/>
          </a:p>
        </p:txBody>
      </p:sp>
      <p:sp>
        <p:nvSpPr>
          <p:cNvPr id="8" name="Text 4"/>
          <p:cNvSpPr/>
          <p:nvPr/>
        </p:nvSpPr>
        <p:spPr>
          <a:xfrm>
            <a:off x="6807200" y="3642916"/>
            <a:ext cx="4709160" cy="656193"/>
          </a:xfrm>
          <a:prstGeom prst="rect">
            <a:avLst/>
          </a:prstGeom>
          <a:noFill/>
          <a:ln/>
        </p:spPr>
        <p:txBody>
          <a:bodyPr wrap="square" lIns="0" tIns="0" rIns="0" bIns="0" rtlCol="0" anchor="t">
            <a:normAutofit/>
          </a:bodyPr>
          <a:lstStyle/>
          <a:p>
            <a:pPr marL="0" indent="0" algn="l">
              <a:lnSpc>
                <a:spcPts val="1656"/>
              </a:lnSpc>
              <a:buNone/>
            </a:pPr>
            <a:r>
              <a:rPr lang="en-US" sz="1200" dirty="0">
                <a:solidFill>
                  <a:srgbClr val="1F2A30"/>
                </a:solidFill>
                <a:latin typeface="IBM Plex Sans" pitchFamily="34" charset="0"/>
                <a:ea typeface="IBM Plex Sans" pitchFamily="34" charset="-122"/>
                <a:cs typeface="IBM Plex Sans" pitchFamily="34" charset="-120"/>
              </a:rPr>
              <a:t>Water edge, a stream channel, one small compound. Built-up is 5% or less on every map, so my label over-weighted the compound.</a:t>
            </a:r>
            <a:endParaRPr lang="en-US" sz="1200" dirty="0"/>
          </a:p>
        </p:txBody>
      </p:sp>
      <p:sp>
        <p:nvSpPr>
          <p:cNvPr id="9" name="Text 5"/>
          <p:cNvSpPr/>
          <p:nvPr/>
        </p:nvSpPr>
        <p:spPr>
          <a:xfrm>
            <a:off x="6807200" y="4388011"/>
            <a:ext cx="47091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IBM Plex Sans" pitchFamily="34" charset="0"/>
                <a:ea typeface="IBM Plex Sans" pitchFamily="34" charset="-122"/>
                <a:cs typeface="IBM Plex Sans" pitchFamily="34" charset="-120"/>
              </a:rPr>
              <a:t>HYPOTHESIS</a:t>
            </a:r>
            <a:endParaRPr lang="en-US" sz="1200" dirty="0"/>
          </a:p>
        </p:txBody>
      </p:sp>
      <p:sp>
        <p:nvSpPr>
          <p:cNvPr id="10" name="Text 6"/>
          <p:cNvSpPr/>
          <p:nvPr/>
        </p:nvSpPr>
        <p:spPr>
          <a:xfrm>
            <a:off x="6807200" y="4639469"/>
            <a:ext cx="4709160" cy="445929"/>
          </a:xfrm>
          <a:prstGeom prst="rect">
            <a:avLst/>
          </a:prstGeom>
          <a:noFill/>
          <a:ln/>
        </p:spPr>
        <p:txBody>
          <a:bodyPr wrap="square" lIns="0" tIns="0" rIns="0" bIns="0" rtlCol="0" anchor="t">
            <a:normAutofit/>
          </a:bodyPr>
          <a:lstStyle/>
          <a:p>
            <a:pPr marL="0" indent="0" algn="l">
              <a:lnSpc>
                <a:spcPts val="1656"/>
              </a:lnSpc>
              <a:buNone/>
            </a:pPr>
            <a:r>
              <a:rPr lang="en-US" sz="1200" dirty="0">
                <a:solidFill>
                  <a:srgbClr val="1F2A30"/>
                </a:solidFill>
                <a:latin typeface="IBM Plex Sans" pitchFamily="34" charset="0"/>
                <a:ea typeface="IBM Plex Sans" pitchFamily="34" charset="-122"/>
                <a:cs typeface="IBM Plex Sans" pitchFamily="34" charset="-120"/>
              </a:rPr>
              <a:t>A seasonal drawdown margin, grazed or farmed as water falls, drawn differently by each map.</a:t>
            </a:r>
            <a:endParaRPr lang="en-US" sz="1200" dirty="0"/>
          </a:p>
        </p:txBody>
      </p:sp>
      <p:sp>
        <p:nvSpPr>
          <p:cNvPr id="11" name="Text 7"/>
          <p:cNvSpPr/>
          <p:nvPr/>
        </p:nvSpPr>
        <p:spPr>
          <a:xfrm>
            <a:off x="6807200" y="5174295"/>
            <a:ext cx="47091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6525B"/>
                </a:solidFill>
                <a:latin typeface="IBM Plex Sans" pitchFamily="34" charset="0"/>
                <a:ea typeface="IBM Plex Sans" pitchFamily="34" charset="-122"/>
                <a:cs typeface="IBM Plex Sans" pitchFamily="34" charset="-120"/>
              </a:rPr>
              <a:t>WOULD SETTLE IT</a:t>
            </a:r>
            <a:endParaRPr lang="en-US" sz="1200" dirty="0"/>
          </a:p>
        </p:txBody>
      </p:sp>
      <p:sp>
        <p:nvSpPr>
          <p:cNvPr id="12" name="Text 8"/>
          <p:cNvSpPr/>
          <p:nvPr/>
        </p:nvSpPr>
        <p:spPr>
          <a:xfrm>
            <a:off x="6807200" y="5425765"/>
            <a:ext cx="4709160" cy="445929"/>
          </a:xfrm>
          <a:prstGeom prst="rect">
            <a:avLst/>
          </a:prstGeom>
          <a:noFill/>
          <a:ln/>
        </p:spPr>
        <p:txBody>
          <a:bodyPr wrap="square" lIns="0" tIns="0" rIns="0" bIns="0" rtlCol="0" anchor="t">
            <a:normAutofit/>
          </a:bodyPr>
          <a:lstStyle/>
          <a:p>
            <a:pPr marL="0" indent="0" algn="l">
              <a:lnSpc>
                <a:spcPts val="1656"/>
              </a:lnSpc>
              <a:buNone/>
            </a:pPr>
            <a:r>
              <a:rPr lang="en-US" sz="1200" dirty="0">
                <a:solidFill>
                  <a:srgbClr val="1F2A30"/>
                </a:solidFill>
                <a:latin typeface="IBM Plex Sans" pitchFamily="34" charset="0"/>
                <a:ea typeface="IBM Plex Sans" pitchFamily="34" charset="-122"/>
                <a:cs typeface="IBM Plex Sans" pitchFamily="34" charset="-120"/>
              </a:rPr>
              <a:t>Monthly water extent through 2019, reservoir levels, a dated field visit.</a:t>
            </a:r>
            <a:endParaRPr lang="en-US" sz="1200" dirty="0"/>
          </a:p>
        </p:txBody>
      </p:sp>
      <p:sp>
        <p:nvSpPr>
          <p:cNvPr id="14" name="Text 1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SENSITIVITY TEST · DATE WINDOW</a:t>
            </a:r>
            <a:endParaRPr lang="en-US" sz="1200" dirty="0"/>
          </a:p>
        </p:txBody>
      </p:sp>
      <p:sp>
        <p:nvSpPr>
          <p:cNvPr id="3" name="Text 1"/>
          <p:cNvSpPr>
            <a:spLocks noGrp="1"/>
          </p:cNvSpPr>
          <p:nvPr>
            <p:ph type="title"/>
          </p:nvPr>
        </p:nvSpPr>
        <p:spPr>
          <a:xfrm>
            <a:off x="812800" y="10007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Dropping Feb–Mar changed no random-forest label</a:t>
            </a:r>
            <a:endParaRPr lang="en-US" sz="3000" dirty="0"/>
          </a:p>
        </p:txBody>
      </p:sp>
      <p:sp>
        <p:nvSpPr>
          <p:cNvPr id="7" name="Shape 5"/>
          <p:cNvSpPr/>
          <p:nvPr/>
        </p:nvSpPr>
        <p:spPr>
          <a:xfrm>
            <a:off x="764707" y="1895559"/>
            <a:ext cx="3414157" cy="956310"/>
          </a:xfrm>
          <a:prstGeom prst="roundRect">
            <a:avLst>
              <a:gd name="adj" fmla="val 7636"/>
            </a:avLst>
          </a:prstGeom>
          <a:solidFill>
            <a:srgbClr val="FDFCF9"/>
          </a:solidFill>
          <a:ln w="6350">
            <a:solidFill>
              <a:srgbClr val="DEDBD2"/>
            </a:solidFill>
            <a:prstDash val="solid"/>
          </a:ln>
        </p:spPr>
      </p:sp>
      <p:sp>
        <p:nvSpPr>
          <p:cNvPr id="8" name="Text 6"/>
          <p:cNvSpPr/>
          <p:nvPr/>
        </p:nvSpPr>
        <p:spPr>
          <a:xfrm>
            <a:off x="906312" y="1986369"/>
            <a:ext cx="3224875"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0B5A8C"/>
                </a:solidFill>
                <a:latin typeface="Source Serif 4" pitchFamily="18" charset="0"/>
                <a:ea typeface="Source Serif 4" pitchFamily="18" charset="-122"/>
                <a:cs typeface="Source Serif 4" pitchFamily="18" charset="-120"/>
              </a:rPr>
              <a:t>0 / 12</a:t>
            </a:r>
            <a:endParaRPr lang="en-US" sz="2400" dirty="0"/>
          </a:p>
        </p:txBody>
      </p:sp>
      <p:sp>
        <p:nvSpPr>
          <p:cNvPr id="9" name="Text 7"/>
          <p:cNvSpPr/>
          <p:nvPr/>
        </p:nvSpPr>
        <p:spPr>
          <a:xfrm>
            <a:off x="906312" y="2334342"/>
            <a:ext cx="322487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RF labels changed (retrained on 9 Oct–Dec features)</a:t>
            </a:r>
            <a:endParaRPr lang="en-US" sz="1200" dirty="0"/>
          </a:p>
        </p:txBody>
      </p:sp>
      <p:sp>
        <p:nvSpPr>
          <p:cNvPr id="10" name="Shape 8"/>
          <p:cNvSpPr/>
          <p:nvPr/>
        </p:nvSpPr>
        <p:spPr>
          <a:xfrm>
            <a:off x="764707" y="2947117"/>
            <a:ext cx="3414157" cy="742950"/>
          </a:xfrm>
          <a:prstGeom prst="roundRect">
            <a:avLst>
              <a:gd name="adj" fmla="val 9829"/>
            </a:avLst>
          </a:prstGeom>
          <a:solidFill>
            <a:srgbClr val="FDFCF9"/>
          </a:solidFill>
          <a:ln w="6350">
            <a:solidFill>
              <a:srgbClr val="DEDBD2"/>
            </a:solidFill>
            <a:prstDash val="solid"/>
          </a:ln>
        </p:spPr>
      </p:sp>
      <p:sp>
        <p:nvSpPr>
          <p:cNvPr id="11" name="Text 9"/>
          <p:cNvSpPr/>
          <p:nvPr/>
        </p:nvSpPr>
        <p:spPr>
          <a:xfrm>
            <a:off x="906312" y="3037927"/>
            <a:ext cx="3224875"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B34A00"/>
                </a:solidFill>
                <a:latin typeface="Source Serif 4" pitchFamily="18" charset="0"/>
                <a:ea typeface="Source Serif 4" pitchFamily="18" charset="-122"/>
                <a:cs typeface="Source Serif 4" pitchFamily="18" charset="-120"/>
              </a:rPr>
              <a:t>2 / 12</a:t>
            </a:r>
            <a:endParaRPr lang="en-US" sz="2400" dirty="0"/>
          </a:p>
        </p:txBody>
      </p:sp>
      <p:sp>
        <p:nvSpPr>
          <p:cNvPr id="12" name="Text 10"/>
          <p:cNvSpPr/>
          <p:nvPr/>
        </p:nvSpPr>
        <p:spPr>
          <a:xfrm>
            <a:off x="906312" y="3385900"/>
            <a:ext cx="32248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DW labels changed (C03, C10)</a:t>
            </a:r>
            <a:endParaRPr lang="en-US" sz="1200" dirty="0"/>
          </a:p>
        </p:txBody>
      </p:sp>
      <p:sp>
        <p:nvSpPr>
          <p:cNvPr id="13" name="Shape 11"/>
          <p:cNvSpPr/>
          <p:nvPr/>
        </p:nvSpPr>
        <p:spPr>
          <a:xfrm>
            <a:off x="764707" y="3785317"/>
            <a:ext cx="3414157" cy="742950"/>
          </a:xfrm>
          <a:prstGeom prst="roundRect">
            <a:avLst>
              <a:gd name="adj" fmla="val 9829"/>
            </a:avLst>
          </a:prstGeom>
          <a:solidFill>
            <a:srgbClr val="FDFCF9"/>
          </a:solidFill>
          <a:ln w="6350">
            <a:solidFill>
              <a:srgbClr val="DEDBD2"/>
            </a:solidFill>
            <a:prstDash val="solid"/>
          </a:ln>
        </p:spPr>
      </p:sp>
      <p:sp>
        <p:nvSpPr>
          <p:cNvPr id="14" name="Text 12"/>
          <p:cNvSpPr/>
          <p:nvPr/>
        </p:nvSpPr>
        <p:spPr>
          <a:xfrm>
            <a:off x="906312" y="3876127"/>
            <a:ext cx="3224875"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46525B"/>
                </a:solidFill>
                <a:latin typeface="Source Serif 4" pitchFamily="18" charset="0"/>
                <a:ea typeface="Source Serif 4" pitchFamily="18" charset="-122"/>
                <a:cs typeface="Source Serif 4" pitchFamily="18" charset="-120"/>
              </a:rPr>
              <a:t>7 → 6</a:t>
            </a:r>
            <a:endParaRPr lang="en-US" sz="2400" dirty="0"/>
          </a:p>
        </p:txBody>
      </p:sp>
      <p:sp>
        <p:nvSpPr>
          <p:cNvPr id="15" name="Text 13"/>
          <p:cNvSpPr/>
          <p:nvPr/>
        </p:nvSpPr>
        <p:spPr>
          <a:xfrm>
            <a:off x="906312" y="4224100"/>
            <a:ext cx="32248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5B"/>
                </a:solidFill>
                <a:latin typeface="IBM Plex Sans" pitchFamily="34" charset="0"/>
                <a:ea typeface="IBM Plex Sans" pitchFamily="34" charset="-122"/>
                <a:cs typeface="IBM Plex Sans" pitchFamily="34" charset="-120"/>
              </a:rPr>
              <a:t>RF–DW exact agreement, of 12</a:t>
            </a:r>
            <a:endParaRPr lang="en-US" sz="1200" dirty="0"/>
          </a:p>
        </p:txBody>
      </p:sp>
      <p:sp>
        <p:nvSpPr>
          <p:cNvPr id="16" name="Text 14"/>
          <p:cNvSpPr/>
          <p:nvPr/>
        </p:nvSpPr>
        <p:spPr>
          <a:xfrm>
            <a:off x="4334439" y="1892384"/>
            <a:ext cx="352312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6525B"/>
                </a:solidFill>
                <a:latin typeface="IBM Plex Sans" pitchFamily="34" charset="0"/>
                <a:ea typeface="IBM Plex Sans" pitchFamily="34" charset="-122"/>
                <a:cs typeface="IBM Plex Sans" pitchFamily="34" charset="-120"/>
              </a:rPr>
              <a:t>RF cropland share fell, slightly</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3247191731"/>
              </p:ext>
            </p:extLst>
          </p:nvPr>
        </p:nvGraphicFramePr>
        <p:xfrm>
          <a:off x="4344599" y="2179402"/>
          <a:ext cx="3410346" cy="2015490"/>
        </p:xfrm>
        <a:graphic>
          <a:graphicData uri="http://schemas.openxmlformats.org/drawingml/2006/table">
            <a:tbl>
              <a:tblPr/>
              <a:tblGrid>
                <a:gridCol w="1023104">
                  <a:extLst>
                    <a:ext uri="{9D8B030D-6E8A-4147-A177-3AD203B41FA5}">
                      <a16:colId xmlns:a16="http://schemas.microsoft.com/office/drawing/2014/main" val="20000"/>
                    </a:ext>
                  </a:extLst>
                </a:gridCol>
                <a:gridCol w="1193621">
                  <a:extLst>
                    <a:ext uri="{9D8B030D-6E8A-4147-A177-3AD203B41FA5}">
                      <a16:colId xmlns:a16="http://schemas.microsoft.com/office/drawing/2014/main" val="20001"/>
                    </a:ext>
                  </a:extLst>
                </a:gridCol>
                <a:gridCol w="1193621">
                  <a:extLst>
                    <a:ext uri="{9D8B030D-6E8A-4147-A177-3AD203B41FA5}">
                      <a16:colId xmlns:a16="http://schemas.microsoft.com/office/drawing/2014/main" val="20002"/>
                    </a:ext>
                  </a:extLst>
                </a:gridCol>
              </a:tblGrid>
              <a:tr h="588010">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Cell</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Two seasons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Oct–Dec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C03</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76%</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65%</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C04</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85%</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82%</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C08</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85%</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83%</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C12</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91%</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F2A30"/>
                          </a:solidFill>
                          <a:latin typeface="IBM Plex Sans" pitchFamily="34" charset="0"/>
                          <a:ea typeface="IBM Plex Sans" pitchFamily="34" charset="-122"/>
                          <a:cs typeface="IBM Plex Sans" pitchFamily="34" charset="-120"/>
                        </a:rPr>
                        <a:t>89%</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Text 15"/>
          <p:cNvSpPr/>
          <p:nvPr/>
        </p:nvSpPr>
        <p:spPr>
          <a:xfrm>
            <a:off x="4334439" y="4258392"/>
            <a:ext cx="352312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25B"/>
                </a:solidFill>
                <a:latin typeface="IBM Plex Sans" pitchFamily="34" charset="0"/>
                <a:ea typeface="IBM Plex Sans" pitchFamily="34" charset="-122"/>
                <a:cs typeface="IBM Plex Sans" pitchFamily="34" charset="-120"/>
              </a:rPr>
              <a:t>Water cells unchanged (C05 99% → 99%)</a:t>
            </a:r>
            <a:endParaRPr lang="en-US" sz="1200" dirty="0"/>
          </a:p>
        </p:txBody>
      </p:sp>
      <p:sp>
        <p:nvSpPr>
          <p:cNvPr id="19" name="Shape 16"/>
          <p:cNvSpPr/>
          <p:nvPr/>
        </p:nvSpPr>
        <p:spPr>
          <a:xfrm>
            <a:off x="7910521" y="1895559"/>
            <a:ext cx="3414157" cy="1309688"/>
          </a:xfrm>
          <a:prstGeom prst="roundRect">
            <a:avLst>
              <a:gd name="adj" fmla="val 5576"/>
            </a:avLst>
          </a:prstGeom>
          <a:solidFill>
            <a:srgbClr val="FDFCF9"/>
          </a:solidFill>
          <a:ln w="6350">
            <a:solidFill>
              <a:srgbClr val="DEDBD2"/>
            </a:solidFill>
            <a:prstDash val="solid"/>
          </a:ln>
        </p:spPr>
      </p:sp>
      <p:sp>
        <p:nvSpPr>
          <p:cNvPr id="20" name="Text 17"/>
          <p:cNvSpPr/>
          <p:nvPr/>
        </p:nvSpPr>
        <p:spPr>
          <a:xfrm>
            <a:off x="8052126" y="2011769"/>
            <a:ext cx="3224875"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F2A30"/>
                </a:solidFill>
                <a:latin typeface="IBM Plex Sans" pitchFamily="34" charset="0"/>
                <a:ea typeface="IBM Plex Sans" pitchFamily="34" charset="-122"/>
                <a:cs typeface="IBM Plex Sans" pitchFamily="34" charset="-120"/>
              </a:rPr>
              <a:t>Diagnosis cells</a:t>
            </a:r>
            <a:endParaRPr lang="en-US" sz="1300" dirty="0"/>
          </a:p>
        </p:txBody>
      </p:sp>
      <p:sp>
        <p:nvSpPr>
          <p:cNvPr id="21" name="Text 18"/>
          <p:cNvSpPr/>
          <p:nvPr/>
        </p:nvSpPr>
        <p:spPr>
          <a:xfrm>
            <a:off x="8052126" y="2247984"/>
            <a:ext cx="3224875" cy="866457"/>
          </a:xfrm>
          <a:prstGeom prst="rect">
            <a:avLst/>
          </a:prstGeom>
          <a:noFill/>
          <a:ln/>
        </p:spPr>
        <p:txBody>
          <a:bodyPr wrap="square" lIns="0" tIns="0" rIns="0" bIns="0" rtlCol="0" anchor="t">
            <a:normAutofit/>
          </a:bodyPr>
          <a:lstStyle/>
          <a:p>
            <a:pPr marL="0" indent="0" algn="l">
              <a:lnSpc>
                <a:spcPts val="1656"/>
              </a:lnSpc>
              <a:buNone/>
            </a:pPr>
            <a:r>
              <a:rPr lang="en-US" sz="1200" dirty="0">
                <a:solidFill>
                  <a:srgbClr val="46525B"/>
                </a:solidFill>
                <a:latin typeface="IBM Plex Sans" pitchFamily="34" charset="0"/>
                <a:ea typeface="IBM Plex Sans" pitchFamily="34" charset="-122"/>
                <a:cs typeface="IBM Plex Sans" pitchFamily="34" charset="-120"/>
              </a:rPr>
              <a:t>C02: no change in any product. C10: DW moves to Mixed (Herbaceous + Water), consistent with a seasonal margin, not proof of it.</a:t>
            </a:r>
            <a:endParaRPr lang="en-US" sz="1200" dirty="0"/>
          </a:p>
        </p:txBody>
      </p:sp>
      <p:sp>
        <p:nvSpPr>
          <p:cNvPr id="22" name="Text 19"/>
          <p:cNvSpPr/>
          <p:nvPr/>
        </p:nvSpPr>
        <p:spPr>
          <a:xfrm>
            <a:off x="7907346" y="3297322"/>
            <a:ext cx="3420507" cy="922020"/>
          </a:xfrm>
          <a:prstGeom prst="roundRect">
            <a:avLst>
              <a:gd name="adj" fmla="val 6887"/>
            </a:avLst>
          </a:prstGeom>
          <a:solidFill>
            <a:srgbClr val="F6E7DC"/>
          </a:solidFill>
          <a:ln/>
        </p:spPr>
        <p:txBody>
          <a:bodyPr wrap="square" lIns="121101" tIns="95701" rIns="26868" bIns="70301" rtlCol="0" anchor="t">
            <a:normAutofit/>
          </a:bodyPr>
          <a:lstStyle/>
          <a:p>
            <a:pPr marL="0" indent="0" algn="l">
              <a:lnSpc>
                <a:spcPts val="1820"/>
              </a:lnSpc>
              <a:buNone/>
            </a:pPr>
            <a:r>
              <a:rPr lang="en-US" sz="1300" b="1" dirty="0">
                <a:solidFill>
                  <a:srgbClr val="1F2A30"/>
                </a:solidFill>
                <a:latin typeface="IBM Plex Sans" pitchFamily="34" charset="0"/>
                <a:ea typeface="IBM Plex Sans" pitchFamily="34" charset="-122"/>
                <a:cs typeface="IBM Plex Sans" pitchFamily="34" charset="-120"/>
              </a:rPr>
              <a:t>Direction right, effect small.</a:t>
            </a:r>
            <a:r>
              <a:rPr lang="en-US" sz="1300" dirty="0">
                <a:solidFill>
                  <a:srgbClr val="1F2A30"/>
                </a:solidFill>
                <a:latin typeface="IBM Plex Sans" pitchFamily="34" charset="0"/>
                <a:ea typeface="IBM Plex Sans" pitchFamily="34" charset="-122"/>
                <a:cs typeface="IBM Plex Sans" pitchFamily="34" charset="-120"/>
              </a:rPr>
              <a:t> The main finding holds without the dry-season images.</a:t>
            </a:r>
            <a:endParaRPr lang="en-US" sz="1300" dirty="0"/>
          </a:p>
        </p:txBody>
      </p:sp>
      <p:sp>
        <p:nvSpPr>
          <p:cNvPr id="24" name="Text 2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A8C"/>
                </a:solidFill>
                <a:latin typeface="IBM Plex Sans" pitchFamily="34" charset="0"/>
                <a:ea typeface="IBM Plex Sans" pitchFamily="34" charset="-122"/>
                <a:cs typeface="IBM Plex Sans" pitchFamily="34" charset="-120"/>
              </a:rPr>
              <a:t>BEYOND LAND COVER</a:t>
            </a:r>
            <a:endParaRPr lang="en-US" sz="1200" dirty="0"/>
          </a:p>
        </p:txBody>
      </p:sp>
      <p:sp>
        <p:nvSpPr>
          <p:cNvPr id="3" name="Text 1"/>
          <p:cNvSpPr>
            <a:spLocks noGrp="1"/>
          </p:cNvSpPr>
          <p:nvPr>
            <p:ph type="title"/>
          </p:nvPr>
        </p:nvSpPr>
        <p:spPr>
          <a:xfrm>
            <a:off x="812800" y="10007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F2A30"/>
                </a:solidFill>
                <a:latin typeface="Source Serif 4" pitchFamily="18" charset="0"/>
                <a:ea typeface="Source Serif 4" pitchFamily="18" charset="-122"/>
                <a:cs typeface="Source Serif 4" pitchFamily="18" charset="-120"/>
              </a:rPr>
              <a:t>What a land-cover map cannot tell us yet</a:t>
            </a:r>
            <a:endParaRPr lang="en-US" sz="3000" dirty="0"/>
          </a:p>
        </p:txBody>
      </p:sp>
      <p:sp>
        <p:nvSpPr>
          <p:cNvPr id="4" name="Shape 2"/>
          <p:cNvSpPr/>
          <p:nvPr/>
        </p:nvSpPr>
        <p:spPr>
          <a:xfrm>
            <a:off x="812800" y="1692908"/>
            <a:ext cx="5181600" cy="3164205"/>
          </a:xfrm>
          <a:prstGeom prst="roundRect">
            <a:avLst>
              <a:gd name="adj" fmla="val 2810"/>
            </a:avLst>
          </a:prstGeom>
          <a:solidFill>
            <a:srgbClr val="FDFCF9"/>
          </a:solidFill>
          <a:ln/>
        </p:spPr>
      </p:sp>
      <p:sp>
        <p:nvSpPr>
          <p:cNvPr id="5" name="Text 3"/>
          <p:cNvSpPr/>
          <p:nvPr/>
        </p:nvSpPr>
        <p:spPr>
          <a:xfrm>
            <a:off x="1066800" y="1921508"/>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5A8C"/>
                </a:solidFill>
                <a:latin typeface="Source Serif 4" pitchFamily="18" charset="0"/>
                <a:ea typeface="Source Serif 4" pitchFamily="18" charset="-122"/>
                <a:cs typeface="Source Serif 4" pitchFamily="18" charset="-120"/>
              </a:rPr>
              <a:t>Commons use and access</a:t>
            </a:r>
            <a:endParaRPr lang="en-US" sz="2000" dirty="0"/>
          </a:p>
        </p:txBody>
      </p:sp>
      <p:sp>
        <p:nvSpPr>
          <p:cNvPr id="6" name="Text 4"/>
          <p:cNvSpPr/>
          <p:nvPr/>
        </p:nvSpPr>
        <p:spPr>
          <a:xfrm>
            <a:off x="1066800" y="2340608"/>
            <a:ext cx="481380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30"/>
                </a:solidFill>
                <a:latin typeface="IBM Plex Sans" pitchFamily="34" charset="0"/>
                <a:ea typeface="IBM Plex Sans" pitchFamily="34" charset="-122"/>
                <a:cs typeface="IBM Plex Sans" pitchFamily="34" charset="-120"/>
              </a:rPr>
              <a:t>Imagery shows what covers the land, not who uses it or by what right. A shrub or grass cell could be private, government or village common land.</a:t>
            </a:r>
            <a:endParaRPr lang="en-US" sz="1400" dirty="0"/>
          </a:p>
        </p:txBody>
      </p:sp>
      <p:sp>
        <p:nvSpPr>
          <p:cNvPr id="7" name="Text 5"/>
          <p:cNvSpPr/>
          <p:nvPr/>
        </p:nvSpPr>
        <p:spPr>
          <a:xfrm>
            <a:off x="1152144" y="3201677"/>
            <a:ext cx="4720844" cy="982980"/>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Land records of village grazing land (gairan), 7/12 extracts</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Gram panchayat decisions</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Interviews with the people who use the land</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Dated field visits</a:t>
            </a:r>
            <a:endParaRPr lang="en-US" sz="1300" dirty="0"/>
          </a:p>
        </p:txBody>
      </p:sp>
      <p:sp>
        <p:nvSpPr>
          <p:cNvPr id="8" name="Shape 6"/>
          <p:cNvSpPr/>
          <p:nvPr/>
        </p:nvSpPr>
        <p:spPr>
          <a:xfrm>
            <a:off x="6197600" y="1692908"/>
            <a:ext cx="5181600" cy="3164205"/>
          </a:xfrm>
          <a:prstGeom prst="roundRect">
            <a:avLst>
              <a:gd name="adj" fmla="val 2810"/>
            </a:avLst>
          </a:prstGeom>
          <a:solidFill>
            <a:srgbClr val="FDFCF9"/>
          </a:solidFill>
          <a:ln/>
        </p:spPr>
      </p:sp>
      <p:sp>
        <p:nvSpPr>
          <p:cNvPr id="9" name="Text 7"/>
          <p:cNvSpPr/>
          <p:nvPr/>
        </p:nvSpPr>
        <p:spPr>
          <a:xfrm>
            <a:off x="6451600" y="1921508"/>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B34A00"/>
                </a:solidFill>
                <a:latin typeface="Source Serif 4" pitchFamily="18" charset="0"/>
                <a:ea typeface="Source Serif 4" pitchFamily="18" charset="-122"/>
                <a:cs typeface="Source Serif 4" pitchFamily="18" charset="-120"/>
              </a:rPr>
              <a:t>A second period</a:t>
            </a:r>
            <a:endParaRPr lang="en-US" sz="2000" dirty="0"/>
          </a:p>
        </p:txBody>
      </p:sp>
      <p:sp>
        <p:nvSpPr>
          <p:cNvPr id="10" name="Text 8"/>
          <p:cNvSpPr/>
          <p:nvPr/>
        </p:nvSpPr>
        <p:spPr>
          <a:xfrm>
            <a:off x="6451600" y="2340608"/>
            <a:ext cx="481380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30"/>
                </a:solidFill>
                <a:latin typeface="IBM Plex Sans" pitchFamily="34" charset="0"/>
                <a:ea typeface="IBM Plex Sans" pitchFamily="34" charset="-122"/>
                <a:cs typeface="IBM Plex Sans" pitchFamily="34" charset="-120"/>
              </a:rPr>
              <a:t>Separate real change from seasonality and from uncertain project dates.</a:t>
            </a:r>
            <a:endParaRPr lang="en-US" sz="1400" dirty="0"/>
          </a:p>
        </p:txBody>
      </p:sp>
      <p:sp>
        <p:nvSpPr>
          <p:cNvPr id="11" name="Text 9"/>
          <p:cNvSpPr/>
          <p:nvPr/>
        </p:nvSpPr>
        <p:spPr>
          <a:xfrm>
            <a:off x="6536944" y="2952750"/>
            <a:ext cx="4720844" cy="1701165"/>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Same pipeline, same months, in later years</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Several years first, to learn normal year-to-year variation (e.g. rainfall)</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Count only changes larger than that variation and lasting across years</a:t>
            </a:r>
            <a:endParaRPr lang="en-US" sz="1300" dirty="0"/>
          </a:p>
          <a:p>
            <a:pPr marL="168656" indent="-168656" algn="l">
              <a:lnSpc>
                <a:spcPts val="1885"/>
              </a:lnSpc>
              <a:buSzPct val="100000"/>
              <a:buChar char="•"/>
            </a:pPr>
            <a:r>
              <a:rPr lang="en-US" sz="1300" dirty="0">
                <a:solidFill>
                  <a:srgbClr val="46525B"/>
                </a:solidFill>
                <a:latin typeface="IBM Plex Sans" pitchFamily="34" charset="0"/>
                <a:ea typeface="IBM Plex Sans" pitchFamily="34" charset="-122"/>
                <a:cs typeface="IBM Plex Sans" pitchFamily="34" charset="-120"/>
              </a:rPr>
              <a:t>Unclear project start: compare periods well before and well after, not the years around it</a:t>
            </a:r>
            <a:endParaRPr lang="en-US" sz="1300" dirty="0"/>
          </a:p>
        </p:txBody>
      </p:sp>
      <p:sp>
        <p:nvSpPr>
          <p:cNvPr id="13" name="Text 1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7C"/>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theme/theme1.xml><?xml version="1.0" encoding="utf-8"?>
<a:theme xmlns:a="http://schemas.openxmlformats.org/drawingml/2006/main" name="Kashyapi Land Cover 2019">
  <a:themeElements>
    <a:clrScheme name="Kashyapi Land Cover 2019">
      <a:dk1>
        <a:srgbClr val="1F2A30"/>
      </a:dk1>
      <a:lt1>
        <a:srgbClr val="F7F6F2"/>
      </a:lt1>
      <a:dk2>
        <a:srgbClr val="555D61"/>
      </a:dk2>
      <a:lt2>
        <a:srgbClr val="E1E2DF"/>
      </a:lt2>
      <a:accent1>
        <a:srgbClr val="0B5A8C"/>
      </a:accent1>
      <a:accent2>
        <a:srgbClr val="B34A00"/>
      </a:accent2>
      <a:accent3>
        <a:srgbClr val="8EC3E6"/>
      </a:accent3>
      <a:accent4>
        <a:srgbClr val="9DB8CB"/>
      </a:accent4>
      <a:accent5>
        <a:srgbClr val="F2B48A"/>
      </a:accent5>
      <a:accent6>
        <a:srgbClr val="46525B"/>
      </a:accent6>
      <a:hlink>
        <a:srgbClr val="0563C1"/>
      </a:hlink>
      <a:folHlink>
        <a:srgbClr val="954F72"/>
      </a:folHlink>
    </a:clrScheme>
    <a:fontScheme name="Kashyapi Land Cover 2019">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3489</Words>
  <Application>Microsoft Office PowerPoint</Application>
  <PresentationFormat>Widescreen</PresentationFormat>
  <Paragraphs>336</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IBM Plex Sans</vt:lpstr>
      <vt:lpstr>Source Serif 4</vt:lpstr>
      <vt:lpstr>Kashyapi Land Cover 2019</vt:lpstr>
      <vt:lpstr>Land cover at the Kashyapi Dam reservoir edge</vt:lpstr>
      <vt:lpstr>Five steps, each with a saved output</vt:lpstr>
      <vt:lpstr>Methodology Flowchart</vt:lpstr>
      <vt:lpstr>A 3 km² box on the reservoir edge</vt:lpstr>
      <vt:lpstr>Two 2019 seasons, cloud-screened</vt:lpstr>
      <vt:lpstr>Six CGLS classes, one cell rule for every source</vt:lpstr>
      <vt:lpstr>Six cells, labelled by eye before any map</vt:lpstr>
      <vt:lpstr>A random forest on two seasons</vt:lpstr>
      <vt:lpstr>Trained outside the grid, never on comparators</vt:lpstr>
      <vt:lpstr>92% on held-out polygons, an optimistic number</vt:lpstr>
      <vt:lpstr>Same footprints, different resolution and time</vt:lpstr>
      <vt:lpstr>My random forest and Dynamic World give the same label in 7 of 12 cells, and overlap in 11 of 12.</vt:lpstr>
      <vt:lpstr>Twelve cells, four sources</vt:lpstr>
      <vt:lpstr>Every count with its denominator</vt:lpstr>
      <vt:lpstr>Scrub to me, cropland to both products</vt:lpstr>
      <vt:lpstr>Four sources, four different answers</vt:lpstr>
      <vt:lpstr>Dropping Feb–Mar changed no random-forest label</vt:lpstr>
      <vt:lpstr>What a land-cover map cannot tell us yet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Kashyapi Land Cover 2019</dc:title>
  <dc:subject/>
  <dc:creator/>
  <cp:lastModifiedBy>sawargaonkaraniket@gmail.com</cp:lastModifiedBy>
  <cp:revision>6</cp:revision>
  <dcterms:created xsi:type="dcterms:W3CDTF">2026-10-14T14:39:40Z</dcterms:created>
  <dcterms:modified xsi:type="dcterms:W3CDTF">2026-10-14T18:31:17Z</dcterms:modified>
</cp:coreProperties>
</file>